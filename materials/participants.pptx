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20f88dfb5047ab" /><Relationship Type="http://schemas.openxmlformats.org/officeDocument/2006/relationships/extended-properties" Target="/docProps/app.xml" Id="R36cb08d421db41a5" /><Relationship Type="http://schemas.openxmlformats.org/officeDocument/2006/relationships/officeDocument" Target="/ppt/presentation.xml" Id="R572d944197cb45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21f8f1cc5d4ede"/>
  </p:sldMasterIdLst>
  <p:notesMasterIdLst>
    <p:notesMasterId xmlns:r="http://schemas.openxmlformats.org/officeDocument/2006/relationships" r:id="R46e02ca356eb437f"/>
  </p:notesMasterIdLst>
  <p:sldIdLst>
    <p:sldId xmlns:r="http://schemas.openxmlformats.org/officeDocument/2006/relationships" id="256" r:id="Rb7322bbe9def4aa2"/>
    <p:sldId xmlns:r="http://schemas.openxmlformats.org/officeDocument/2006/relationships" id="257" r:id="R60cd03b823d346b4"/>
    <p:sldId xmlns:r="http://schemas.openxmlformats.org/officeDocument/2006/relationships" id="258" r:id="R459d2f5275364289"/>
    <p:sldId xmlns:r="http://schemas.openxmlformats.org/officeDocument/2006/relationships" id="259" r:id="R8ab689d70e70465b"/>
    <p:sldId xmlns:r="http://schemas.openxmlformats.org/officeDocument/2006/relationships" id="260" r:id="R4ad8ec4ab6344b57"/>
    <p:sldId xmlns:r="http://schemas.openxmlformats.org/officeDocument/2006/relationships" id="261" r:id="R81783d84124a4fff"/>
    <p:sldId xmlns:r="http://schemas.openxmlformats.org/officeDocument/2006/relationships" id="262" r:id="R75b0e5502fe04241"/>
    <p:sldId xmlns:r="http://schemas.openxmlformats.org/officeDocument/2006/relationships" id="263" r:id="R3f834ef11c6441db"/>
    <p:sldId xmlns:r="http://schemas.openxmlformats.org/officeDocument/2006/relationships" id="264" r:id="R41a6180c4deb409f"/>
    <p:sldId xmlns:r="http://schemas.openxmlformats.org/officeDocument/2006/relationships" id="265" r:id="R4a3faeea72664b68"/>
    <p:sldId xmlns:r="http://schemas.openxmlformats.org/officeDocument/2006/relationships" id="266" r:id="Rf1665e0439444303"/>
    <p:sldId xmlns:r="http://schemas.openxmlformats.org/officeDocument/2006/relationships" id="267" r:id="R8c3730c497b842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fbb17f42df4fb6" /><Relationship Type="http://schemas.openxmlformats.org/officeDocument/2006/relationships/slideMaster" Target="/ppt/slideMasters/slideMaster1.xml" Id="R4c21f8f1cc5d4ede" /><Relationship Type="http://schemas.openxmlformats.org/officeDocument/2006/relationships/notesMaster" Target="/ppt/notesMasters/notesMaster1.xml" Id="R46e02ca356eb437f" /><Relationship Type="http://schemas.openxmlformats.org/officeDocument/2006/relationships/presProps" Target="/ppt/presProps.xml" Id="R70e0c3e911d34792" /><Relationship Type="http://schemas.openxmlformats.org/officeDocument/2006/relationships/tableStyles" Target="/ppt/tableStyles.xml" Id="Rc25fb56a50ba4fe8" /><Relationship Type="http://schemas.openxmlformats.org/officeDocument/2006/relationships/slide" Target="/ppt/slides/slide1.xml" Id="Rb7322bbe9def4aa2" /><Relationship Type="http://schemas.openxmlformats.org/officeDocument/2006/relationships/slide" Target="/ppt/slides/slide2.xml" Id="R60cd03b823d346b4" /><Relationship Type="http://schemas.openxmlformats.org/officeDocument/2006/relationships/slide" Target="/ppt/slides/slide3.xml" Id="R459d2f5275364289" /><Relationship Type="http://schemas.openxmlformats.org/officeDocument/2006/relationships/slide" Target="/ppt/slides/slide4.xml" Id="R8ab689d70e70465b" /><Relationship Type="http://schemas.openxmlformats.org/officeDocument/2006/relationships/slide" Target="/ppt/slides/slide5.xml" Id="R4ad8ec4ab6344b57" /><Relationship Type="http://schemas.openxmlformats.org/officeDocument/2006/relationships/slide" Target="/ppt/slides/slide6.xml" Id="R81783d84124a4fff" /><Relationship Type="http://schemas.openxmlformats.org/officeDocument/2006/relationships/slide" Target="/ppt/slides/slide7.xml" Id="R75b0e5502fe04241" /><Relationship Type="http://schemas.openxmlformats.org/officeDocument/2006/relationships/slide" Target="/ppt/slides/slide8.xml" Id="R3f834ef11c6441db" /><Relationship Type="http://schemas.openxmlformats.org/officeDocument/2006/relationships/slide" Target="/ppt/slides/slide9.xml" Id="R41a6180c4deb409f" /><Relationship Type="http://schemas.openxmlformats.org/officeDocument/2006/relationships/slide" Target="/ppt/slides/slide10.xml" Id="R4a3faeea72664b68" /><Relationship Type="http://schemas.openxmlformats.org/officeDocument/2006/relationships/slide" Target="/ppt/slides/slide11.xml" Id="Rf1665e0439444303" /><Relationship Type="http://schemas.openxmlformats.org/officeDocument/2006/relationships/slide" Target="/ppt/slides/slide12.xml" Id="R8c3730c497b842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7015287d224c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94b33fdacc4bed" /><Relationship Type="http://schemas.openxmlformats.org/officeDocument/2006/relationships/notesMaster" Target="/ppt/notesMasters/notesMaster1.xml" Id="R2df14ed334dc4a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4b54464afa43c6" /><Relationship Type="http://schemas.openxmlformats.org/officeDocument/2006/relationships/notesMaster" Target="/ppt/notesMasters/notesMaster1.xml" Id="Ra964696d9e4f4f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13715b046243c0" /><Relationship Type="http://schemas.openxmlformats.org/officeDocument/2006/relationships/notesMaster" Target="/ppt/notesMasters/notesMaster1.xml" Id="R6c8ba8b2858748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62edc258e54c96" /><Relationship Type="http://schemas.openxmlformats.org/officeDocument/2006/relationships/notesMaster" Target="/ppt/notesMasters/notesMaster1.xml" Id="R1ee693cc101b49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85072475f14798" /><Relationship Type="http://schemas.openxmlformats.org/officeDocument/2006/relationships/notesMaster" Target="/ppt/notesMasters/notesMaster1.xml" Id="Rd4eb8eab334947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fb0cdd849d4bfb" /><Relationship Type="http://schemas.openxmlformats.org/officeDocument/2006/relationships/notesMaster" Target="/ppt/notesMasters/notesMaster1.xml" Id="R5e3ca204b56344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107a870c914d49" /><Relationship Type="http://schemas.openxmlformats.org/officeDocument/2006/relationships/notesMaster" Target="/ppt/notesMasters/notesMaster1.xml" Id="Rab28fbfb26094e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168973331c4669" /><Relationship Type="http://schemas.openxmlformats.org/officeDocument/2006/relationships/notesMaster" Target="/ppt/notesMasters/notesMaster1.xml" Id="Rddc63ee2452646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ec271fe9004e77" /><Relationship Type="http://schemas.openxmlformats.org/officeDocument/2006/relationships/notesMaster" Target="/ppt/notesMasters/notesMaster1.xml" Id="Rbc6d3e99eeb04f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65de0980d34f43" /><Relationship Type="http://schemas.openxmlformats.org/officeDocument/2006/relationships/notesMaster" Target="/ppt/notesMasters/notesMaster1.xml" Id="R83b813b1b009442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1ec3b647684d9f" /><Relationship Type="http://schemas.openxmlformats.org/officeDocument/2006/relationships/notesMaster" Target="/ppt/notesMasters/notesMaster1.xml" Id="R558c5a9f69dd4b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051f1dad5404ddf" /><Relationship Type="http://schemas.openxmlformats.org/officeDocument/2006/relationships/notesMaster" Target="/ppt/notesMasters/notesMaster1.xml" Id="R5d76eade15234b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日は皆さんのチームがアイドルグループになります。一年目はアイドル、上の年目はデビュー前から応援している古参ファンです。一緒に北大構内を回って、最後は寮の共用棟でライブをします。金額と報酬は試運転の仮案です。正式な当日ルールは開始前に運営から案内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出典：企画議事録と共通ルール 2026-10-11-draft-1。デザイン参考：https://github.com/carnot-tech/consulting-pptx-skill/blob/main/references/slide-rules.md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勝敗を決めるのは最後のファン数です。お金を一番多く残したチームが勝つわけではありません。古参ファンの皆さんが稼ぎ、アイドルの皆さんが表現することで、一緒にグループを育てます。ファン数はゲーム上の人気を表す数値で、参加者が別のチームへ推し変する仕組みではあり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出典：企画議事録と共通ルール 2026-10-11-draft-1。デザイン参考：https://github.com/carnot-tech/consulting-pptx-skill/blob/main/references/slide-rules.md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番大事なのは17時20分の集合です。ツアーは15時30分から17時までで、各チームの行動表を配ります。演目の候補は17時に公開し、17時10分までに決めてLINEで知らせてください。ツアーは15分枠で、実施5分と移動10分を見込んでいますが、歩行実測で調整する仮案です。余裕のないときは任意ミッションを省い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出典：企画議事録と共通ルール 2026-10-11-draft-1。デザイン参考：https://github.com/carnot-tech/consulting-pptx-skill/blob/main/references/slide-rules.md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クラーク像前がお笑い、博物館前がクイズ、工学部噴水前がスポーツ、18条ステージがダンスです。各会場25点で、そのうちビジュアルが10点です。衣装やおもしろコスプレをうまく使えますが、たくさん買えば自動的に点が付く仕組みではありません。実物の工夫と表現を評価します。1点はファン1万人に換算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出典：企画議事録と共通ルール 2026-10-11-draft-1。デザイン参考：https://github.com/carnot-tech/consulting-pptx-skill/blob/main/references/slide-rules.md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Bはイベント内のお金です。実際の現金を使うものではありません。最初に600GBを持ち、宣伝や衣装素材、武道館レッスン、推し活グッズ、装飾に使えます。宣伝以外はファンが自動で増えません。衣装や練習がステージの評価につながります。金額と回数は試運転の仮案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出典：企画議事録と共通ルール 2026-10-11-draft-1。デザイン参考：https://github.com/carnot-tech/consulting-pptx-skill/blob/main/references/slide-rules.md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由枠には短い仕事を用意します。古参ファン営業は三つの別のお題で各一回。スポンサーCMは指定の言葉を使った短い動画です。ファンクラブを開くと17時の清算時にファン数に応じた追加収入も入ります。次の会場へ遅れないことを優先し、余裕のある仕事を選んで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出典：企画議事録と共通ルール 2026-10-11-draft-1。デザイン参考：https://github.com/carnot-tech/consulting-pptx-skill/blob/main/references/slide-rules.md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チームに一度、週刊ケイテキから架空の疑惑が届きます。実際の個人情報や本物のうわさは使いません。対応はもみ消し、釈明、話題に乗るの三択です。16時45分までにチームLINEで申告し、必要な動画を送ってください。動画の成立条件は予告と一緒に示します。支払いと動画対応を二重に行う必要はあり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出典：企画議事録と共通ルール 2026-10-11-draft-1。デザイン参考：https://github.com/carnot-tech/consulting-pptx-skill/blob/main/references/slide-rules.md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合同ロケはライバルを負かす対決ではなく、共同CMを作る仕事です。アイドルが自己紹介と相手の紹介をし、古参ファンが撮影や進行を担当します。時間割と距離の都合で一緒に撮れないときは、別々に15秒ずつ撮る動画リレーで成立します。一般のSNSへの投稿は必須にせず、イベントのLINE内で提出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出典：企画議事録と共通ルール 2026-10-11-draft-1。デザイン参考：https://github.com/carnot-tech/consulting-pptx-skill/blob/main/references/slide-rules.md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武道館はツアーの25点を追加せず、この五項目だけで60点です。演目は一組三分。同じ演目を複数のチームが選んでもかまいません。ツアーまでの順位に応じて出演順を選びます。審査員三人の平均を使う案です。古参ファンの応援とカラー装飾も点になります。全員が表現する時間を作っ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出典：企画議事録と共通ルール 2026-10-11-draft-1。デザイン参考：https://github.com/carnot-tech/consulting-pptx-skill/blob/main/references/slide-rules.md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ダッシュボードでは全チームのGBも見えます。各会場や仕事の結果は運営が確認してから反映します。LINEに送った直後は未反映の場合があります。おかしいと思ったら、チーム名、出来事、時刻をチームLINEで教えてください。画面の数値を参加者が自分で変更することはあり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出典：企画議事録と共通ルール 2026-10-11-draft-1。デザイン参考：https://github.com/carnot-tech/consulting-pptx-skill/blob/main/references/slide-rules.md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年目が目立つことと、全員が無理をすることは別です。出演のしかたはチーム内で相談し、体調や苦手なことは運営へ伝えてください。アクロバットや組体操、熱い食べ物を使う演目は、運営が条件を決めて許可したものだけにします。移動は徒歩。体調不良や遅れは本部へ連絡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出典：企画議事録と共通ルール 2026-10-11-draft-1。デザイン参考：https://github.com/carnot-tech/consulting-pptx-skill/blob/main/references/slide-rules.md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配布するチーム行動表を確認して出発してください。チーム名、グループカラー、撮影係、連絡係を決めます。質問はチームLINEへお願いします。17時20分に全員で共用棟へ戻ってきてください。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出典：企画議事録と共通ルール 2026-10-11-draft-1。デザイン参考：https://github.com/carnot-tech/consulting-pptx-skill/blob/main/references/slide-rules.md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4e297d423446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cb758d748c49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ec9ab9dd4c43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b05c359e87473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07483d7733463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3635336d4e4d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62A478-5CF6-43E1-8C85-E9887E6B4F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5618FB1-1888-4A3A-A551-6C09912BF56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9BCD4D9-DC4A-4E40-9BD1-C55E80ED54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E4A41F-978E-4E49-8E7A-DBF8B2548D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4829CE9-B9D8-41DB-9DAD-3FBD05CEBC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BD77721-5A3F-46EF-897A-93090F2381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3336EF-ADCE-4571-804B-5D32319DC6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CFE9EDC-73E0-4410-9D91-39E025884B4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4DBF4C-012E-4E9C-8B67-54DD91470F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3B25E40-434F-4DA3-B629-426502F60D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d539fdcceb4572" /><Relationship Type="http://schemas.openxmlformats.org/officeDocument/2006/relationships/slideLayout" Target="/ppt/slideLayouts/slideLayout1.xml" Id="R7e351f4bd2a5472c" /><Relationship Type="http://schemas.openxmlformats.org/officeDocument/2006/relationships/slideLayout" Target="/ppt/slideLayouts/slideLayout2.xml" Id="Rb4dccb0f96a441aa" /><Relationship Type="http://schemas.openxmlformats.org/officeDocument/2006/relationships/slideLayout" Target="/ppt/slideLayouts/slideLayout3.xml" Id="R22492ac6e8c94547" /><Relationship Type="http://schemas.openxmlformats.org/officeDocument/2006/relationships/slideLayout" Target="/ppt/slideLayouts/slideLayout4.xml" Id="R6183040a89b94c97" /><Relationship Type="http://schemas.openxmlformats.org/officeDocument/2006/relationships/slideLayout" Target="/ppt/slideLayouts/slideLayout5.xml" Id="R7b3e8eee5ef14d82" /><Relationship Type="http://schemas.openxmlformats.org/officeDocument/2006/relationships/slideLayout" Target="/ppt/slideLayouts/slideLayout6.xml" Id="Rc5f215e9a76e43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351f4bd2a5472c"/>
    <p:sldLayoutId xmlns:r="http://schemas.openxmlformats.org/officeDocument/2006/relationships" id="2147483650" r:id="Rb4dccb0f96a441aa"/>
    <p:sldLayoutId xmlns:r="http://schemas.openxmlformats.org/officeDocument/2006/relationships" id="2147483651" r:id="R22492ac6e8c94547"/>
    <p:sldLayoutId xmlns:r="http://schemas.openxmlformats.org/officeDocument/2006/relationships" id="2147483652" r:id="R6183040a89b94c97"/>
    <p:sldLayoutId xmlns:r="http://schemas.openxmlformats.org/officeDocument/2006/relationships" id="2147483653" r:id="R7b3e8eee5ef14d82"/>
    <p:sldLayoutId xmlns:r="http://schemas.openxmlformats.org/officeDocument/2006/relationships" id="2147483654" r:id="Rc5f215e9a76e43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7c9d26f25f4760" /><Relationship Type="http://schemas.openxmlformats.org/officeDocument/2006/relationships/notesSlide" Target="/ppt/notesSlides/notesSlide1.xml" Id="Rde05d9fcee654a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cf8071c46b4cac" /><Relationship Type="http://schemas.openxmlformats.org/officeDocument/2006/relationships/notesSlide" Target="/ppt/notesSlides/notesSlide2.xml" Id="R15acec4f8ae541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4e1a423ad84045" /><Relationship Type="http://schemas.openxmlformats.org/officeDocument/2006/relationships/notesSlide" Target="/ppt/notesSlides/notesSlide3.xml" Id="R275bed7f3cb749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9c05563a444c1f" /><Relationship Type="http://schemas.openxmlformats.org/officeDocument/2006/relationships/notesSlide" Target="/ppt/notesSlides/notesSlide4.xml" Id="R5fa17423c3de48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b3cc9cd8a74865" /><Relationship Type="http://schemas.openxmlformats.org/officeDocument/2006/relationships/notesSlide" Target="/ppt/notesSlides/notesSlide5.xml" Id="R4cd37095a03243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55f0dee69e41f6" /><Relationship Type="http://schemas.openxmlformats.org/officeDocument/2006/relationships/notesSlide" Target="/ppt/notesSlides/notesSlide6.xml" Id="Rce2585d89cd942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d3a96c73c64983" /><Relationship Type="http://schemas.openxmlformats.org/officeDocument/2006/relationships/notesSlide" Target="/ppt/notesSlides/notesSlide7.xml" Id="R5187b00382d842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1a5baca98747ad" /><Relationship Type="http://schemas.openxmlformats.org/officeDocument/2006/relationships/notesSlide" Target="/ppt/notesSlides/notesSlide8.xml" Id="Re4b008cd745e44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b79d8db25144e2" /><Relationship Type="http://schemas.openxmlformats.org/officeDocument/2006/relationships/notesSlide" Target="/ppt/notesSlides/notesSlide9.xml" Id="Rfc35d84c2ca140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aa77395c7b4e89" /><Relationship Type="http://schemas.openxmlformats.org/officeDocument/2006/relationships/notesSlide" Target="/ppt/notesSlides/notesSlide10.xml" Id="R50c69e70bd3a41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499aefb6f248c5" /><Relationship Type="http://schemas.openxmlformats.org/officeDocument/2006/relationships/notesSlide" Target="/ppt/notesSlides/notesSlide11.xml" Id="R922ae420ccf04c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707f4cfe8749a5" /><Relationship Type="http://schemas.openxmlformats.org/officeDocument/2006/relationships/notesSlide" Target="/ppt/notesSlides/notesSlide12.xml" Id="Rbe347176b0414b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4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EDE97D-4AE0-4755-816D-69DF2BE3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4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327アイドル駅伝</a:t>
            </a:r>
          </a:p>
        </p:txBody>
      </p:sp>
      <p:sp>
        <p:nvSpPr>
          <p:cNvPr id="2" name="cover-lead">
            <a:extLst xmlns:a="http://schemas.openxmlformats.org/drawingml/2006/main">
              <a:ext uri="{FF2B5EF4-FFF2-40B4-BE49-F238E27FC236}">
                <a16:creationId xmlns:a16="http://schemas.microsoft.com/office/drawing/2014/main" id="{01A87F87-43A7-4864-9B49-585D926E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0">
                <a:solidFill>
                  <a:srgbClr val="F6A4B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F6A4BF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0">
                <a:solidFill>
                  <a:srgbClr val="F6A4BF"/>
                </a:solidFill>
                <a:latin typeface="Noto Sans JP"/>
                <a:ea typeface="Noto Sans JP"/>
                <a:cs typeface="Noto Sans JP"/>
              </a:rPr>
              <a:t>一年目がアイドル、上の年目が古参ファン</a:t>
            </a:r>
          </a:p>
        </p:txBody>
      </p:sp>
      <p:sp>
        <p:nvSpPr>
          <p:cNvPr id="3" name="cover-detail">
            <a:extLst xmlns:a="http://schemas.openxmlformats.org/drawingml/2006/main">
              <a:ext uri="{FF2B5EF4-FFF2-40B4-BE49-F238E27FC236}">
                <a16:creationId xmlns:a16="http://schemas.microsoft.com/office/drawing/2014/main" id="{2562C1C7-7E11-4735-9B17-DDA38C08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8204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参加者説明資料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15:00 開始　17:30 武道館ライブ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試運転版：GBの金額・報酬・価格は仮案</a:t>
            </a:r>
          </a:p>
        </p:txBody>
      </p:sp>
    </p:spTree>
    <p:extLst>
      <p:ext uri="{BB962C8B-B14F-4D97-AF65-F5344CB8AC3E}">
        <p14:creationId xmlns:p14="http://schemas.microsoft.com/office/powerpoint/2010/main" val="8449571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0CDFD3-08FC-4E28-82B2-EE71674D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チーム全員でアイドルを育て、最後のファン数で競う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2BD1C-7DF7-4360-A3A9-08108A30D47E}"/>
              </a:ext>
            </a:extLst>
          </p:cNvPr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6953250" cy="41910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824288"/>
                <a:gridCol w="3128963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役割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チームで行うこと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一年目のアイドル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番組に出演し、衣装と演技で魅力を伝える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上の年目の古参ファン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GBを稼ぎ、撮影や応援で推しを支える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チーム全員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全員で移動し、出演や購入を相談する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comment-heading">
            <a:extLst xmlns:a="http://schemas.openxmlformats.org/drawingml/2006/main">
              <a:ext uri="{FF2B5EF4-FFF2-40B4-BE49-F238E27FC236}">
                <a16:creationId xmlns:a16="http://schemas.microsoft.com/office/drawing/2014/main" id="{D38581CE-C34D-4AF4-BE4C-36BCD891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勝利条件</a:t>
            </a:r>
          </a:p>
        </p:txBody>
      </p:sp>
      <p:sp>
        <p:nvSpPr>
          <p:cNvPr id="4" name="comment-0">
            <a:extLst xmlns:a="http://schemas.openxmlformats.org/drawingml/2006/main">
              <a:ext uri="{FF2B5EF4-FFF2-40B4-BE49-F238E27FC236}">
                <a16:creationId xmlns:a16="http://schemas.microsoft.com/office/drawing/2014/main" id="{1DA7B69E-16C1-48D2-BD81-C1B696C3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ライブ後のファン数が最多の組が優勝</a:t>
            </a:r>
          </a:p>
        </p:txBody>
      </p:sp>
      <p:sp>
        <p:nvSpPr>
          <p:cNvPr id="5" name="comment-1">
            <a:extLst xmlns:a="http://schemas.openxmlformats.org/drawingml/2006/main">
              <a:ext uri="{FF2B5EF4-FFF2-40B4-BE49-F238E27FC236}">
                <a16:creationId xmlns:a16="http://schemas.microsoft.com/office/drawing/2014/main" id="{303ED694-5FFB-4282-A9A9-8F6B2055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0992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GBはイベント内で使う通貨</a:t>
            </a:r>
          </a:p>
        </p:txBody>
      </p:sp>
      <p:sp>
        <p:nvSpPr>
          <p:cNvPr id="6" name="comment-2">
            <a:extLst xmlns:a="http://schemas.openxmlformats.org/drawingml/2006/main">
              <a:ext uri="{FF2B5EF4-FFF2-40B4-BE49-F238E27FC236}">
                <a16:creationId xmlns:a16="http://schemas.microsoft.com/office/drawing/2014/main" id="{EBBE5329-2A3B-4E17-B39D-B450463A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766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古参ファンは所属チームを支える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2240BD4-F342-44A1-ACD3-3E05C364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rPr>
              <a:t>2 / 12</a:t>
            </a:r>
          </a:p>
        </p:txBody>
      </p:sp>
    </p:spTree>
    <p:extLst>
      <p:ext uri="{BB962C8B-B14F-4D97-AF65-F5344CB8AC3E}">
        <p14:creationId xmlns:p14="http://schemas.microsoft.com/office/powerpoint/2010/main" val="12010880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3898E6-8307-4449-9042-F5C22F46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15時に始まり、17時20分に共用棟へ集まる</a:t>
            </a:r>
          </a:p>
        </p:txBody>
      </p:sp>
      <p:sp>
        <p:nvSpPr>
          <p:cNvPr id="2" name="time-0">
            <a:extLst xmlns:a="http://schemas.openxmlformats.org/drawingml/2006/main">
              <a:ext uri="{FF2B5EF4-FFF2-40B4-BE49-F238E27FC236}">
                <a16:creationId xmlns:a16="http://schemas.microsoft.com/office/drawing/2014/main" id="{B4D59E8D-B802-4752-90E5-C94E3125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10515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rPr>
              <a:t>15:00</a:t>
            </a:r>
          </a:p>
        </p:txBody>
      </p:sp>
      <p:sp>
        <p:nvSpPr>
          <p:cNvPr id="3" name="event-0">
            <a:extLst xmlns:a="http://schemas.openxmlformats.org/drawingml/2006/main">
              <a:ext uri="{FF2B5EF4-FFF2-40B4-BE49-F238E27FC236}">
                <a16:creationId xmlns:a16="http://schemas.microsoft.com/office/drawing/2014/main" id="{10EADC41-D452-44BC-871E-E333585B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752600"/>
            <a:ext cx="73533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記者会見・ルール説明</a:t>
            </a:r>
          </a:p>
        </p:txBody>
      </p:sp>
      <p:sp>
        <p:nvSpPr>
          <p:cNvPr id="4" name="time-1">
            <a:extLst xmlns:a="http://schemas.openxmlformats.org/drawingml/2006/main">
              <a:ext uri="{FF2B5EF4-FFF2-40B4-BE49-F238E27FC236}">
                <a16:creationId xmlns:a16="http://schemas.microsoft.com/office/drawing/2014/main" id="{F17132E9-20B7-44AB-835C-3F32CA7A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1100"/>
            <a:ext cx="310515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rPr>
              <a:t>15:30〜17:00</a:t>
            </a:r>
          </a:p>
        </p:txBody>
      </p:sp>
      <p:sp>
        <p:nvSpPr>
          <p:cNvPr id="5" name="event-1">
            <a:extLst xmlns:a="http://schemas.openxmlformats.org/drawingml/2006/main">
              <a:ext uri="{FF2B5EF4-FFF2-40B4-BE49-F238E27FC236}">
                <a16:creationId xmlns:a16="http://schemas.microsoft.com/office/drawing/2014/main" id="{915FAA67-1D67-448D-A860-482A8689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51100"/>
            <a:ext cx="73533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指定順のツアーと自由枠</a:t>
            </a:r>
          </a:p>
        </p:txBody>
      </p:sp>
      <p:sp>
        <p:nvSpPr>
          <p:cNvPr id="6" name="time-2">
            <a:extLst xmlns:a="http://schemas.openxmlformats.org/drawingml/2006/main">
              <a:ext uri="{FF2B5EF4-FFF2-40B4-BE49-F238E27FC236}">
                <a16:creationId xmlns:a16="http://schemas.microsoft.com/office/drawing/2014/main" id="{87EF1FD9-B0B2-42FF-AD93-1F92EBF0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9600"/>
            <a:ext cx="310515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rPr>
              <a:t>17:00</a:t>
            </a:r>
          </a:p>
        </p:txBody>
      </p:sp>
      <p:sp>
        <p:nvSpPr>
          <p:cNvPr id="7" name="event-2">
            <a:extLst xmlns:a="http://schemas.openxmlformats.org/drawingml/2006/main">
              <a:ext uri="{FF2B5EF4-FFF2-40B4-BE49-F238E27FC236}">
                <a16:creationId xmlns:a16="http://schemas.microsoft.com/office/drawing/2014/main" id="{F31CC234-87C9-4736-8547-3C174288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49600"/>
            <a:ext cx="73533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収入を一括清算／仮案</a:t>
            </a:r>
          </a:p>
        </p:txBody>
      </p:sp>
      <p:sp>
        <p:nvSpPr>
          <p:cNvPr id="8" name="time-3">
            <a:extLst xmlns:a="http://schemas.openxmlformats.org/drawingml/2006/main">
              <a:ext uri="{FF2B5EF4-FFF2-40B4-BE49-F238E27FC236}">
                <a16:creationId xmlns:a16="http://schemas.microsoft.com/office/drawing/2014/main" id="{DDD1BFA9-BC67-409E-8CBE-85A08D8A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310515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rPr>
              <a:t>17:10</a:t>
            </a:r>
          </a:p>
        </p:txBody>
      </p:sp>
      <p:sp>
        <p:nvSpPr>
          <p:cNvPr id="9" name="event-3">
            <a:extLst xmlns:a="http://schemas.openxmlformats.org/drawingml/2006/main">
              <a:ext uri="{FF2B5EF4-FFF2-40B4-BE49-F238E27FC236}">
                <a16:creationId xmlns:a16="http://schemas.microsoft.com/office/drawing/2014/main" id="{34624F0A-64AA-497B-8BC0-F92A2ED0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848100"/>
            <a:ext cx="73533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武道館の演目を申告</a:t>
            </a:r>
          </a:p>
        </p:txBody>
      </p:sp>
      <p:sp>
        <p:nvSpPr>
          <p:cNvPr id="10" name="time-4">
            <a:extLst xmlns:a="http://schemas.openxmlformats.org/drawingml/2006/main">
              <a:ext uri="{FF2B5EF4-FFF2-40B4-BE49-F238E27FC236}">
                <a16:creationId xmlns:a16="http://schemas.microsoft.com/office/drawing/2014/main" id="{EA1A9907-46D4-402A-BC4A-464A7E00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6600"/>
            <a:ext cx="310515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rPr>
              <a:t>17:20</a:t>
            </a:r>
          </a:p>
        </p:txBody>
      </p:sp>
      <p:sp>
        <p:nvSpPr>
          <p:cNvPr id="11" name="event-4">
            <a:extLst xmlns:a="http://schemas.openxmlformats.org/drawingml/2006/main">
              <a:ext uri="{FF2B5EF4-FFF2-40B4-BE49-F238E27FC236}">
                <a16:creationId xmlns:a16="http://schemas.microsoft.com/office/drawing/2014/main" id="{E6204D3D-9ED4-465B-A68F-E3886A23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46600"/>
            <a:ext cx="73533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全員集合・購入締切</a:t>
            </a:r>
          </a:p>
        </p:txBody>
      </p:sp>
      <p:sp>
        <p:nvSpPr>
          <p:cNvPr id="12" name="time-5">
            <a:extLst xmlns:a="http://schemas.openxmlformats.org/drawingml/2006/main">
              <a:ext uri="{FF2B5EF4-FFF2-40B4-BE49-F238E27FC236}">
                <a16:creationId xmlns:a16="http://schemas.microsoft.com/office/drawing/2014/main" id="{FCB4C2E4-34DA-4AB1-B022-114522D2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5100"/>
            <a:ext cx="310515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rPr>
              <a:t>17:30</a:t>
            </a:r>
          </a:p>
        </p:txBody>
      </p:sp>
      <p:sp>
        <p:nvSpPr>
          <p:cNvPr id="13" name="event-5">
            <a:extLst xmlns:a="http://schemas.openxmlformats.org/drawingml/2006/main">
              <a:ext uri="{FF2B5EF4-FFF2-40B4-BE49-F238E27FC236}">
                <a16:creationId xmlns:a16="http://schemas.microsoft.com/office/drawing/2014/main" id="{3FEC77AC-9815-474F-A263-C568C015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245100"/>
            <a:ext cx="73533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武道館ライブ開演</a:t>
            </a:r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9B0C7E8-9326-492C-A80A-3184CC29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rPr>
              <a:t>3 / 12</a:t>
            </a:r>
          </a:p>
        </p:txBody>
      </p:sp>
    </p:spTree>
    <p:extLst>
      <p:ext uri="{BB962C8B-B14F-4D97-AF65-F5344CB8AC3E}">
        <p14:creationId xmlns:p14="http://schemas.microsoft.com/office/powerpoint/2010/main" val="669393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F22BD8-737A-4E00-A67E-053DB8BA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ツアーは各会場25点で、衣装も見た目の評価に入る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D26A6-8497-4CCD-85A8-C72E918A57C7}"/>
              </a:ext>
            </a:extLst>
          </p:cNvPr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6953250" cy="41910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711768"/>
                <a:gridCol w="2572703"/>
                <a:gridCol w="1668780"/>
              </a:tblGrid>
              <a:tr h="8382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会場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番組の内容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満点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 クラーク像前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お笑い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25点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 博物館前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クイズ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25点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 工学部噴水前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スポーツ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25点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 18条ステージ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ダンス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25点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comment-heading">
            <a:extLst xmlns:a="http://schemas.openxmlformats.org/drawingml/2006/main">
              <a:ext uri="{FF2B5EF4-FFF2-40B4-BE49-F238E27FC236}">
                <a16:creationId xmlns:a16="http://schemas.microsoft.com/office/drawing/2014/main" id="{5BD73B7A-DD09-4AE3-BEC5-D0240944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ファン数への換算</a:t>
            </a:r>
          </a:p>
        </p:txBody>
      </p:sp>
      <p:sp>
        <p:nvSpPr>
          <p:cNvPr id="4" name="comment-0">
            <a:extLst xmlns:a="http://schemas.openxmlformats.org/drawingml/2006/main">
              <a:ext uri="{FF2B5EF4-FFF2-40B4-BE49-F238E27FC236}">
                <a16:creationId xmlns:a16="http://schemas.microsoft.com/office/drawing/2014/main" id="{732EB466-173F-4AA1-9206-B3003F52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1点につき1万人</a:t>
            </a:r>
          </a:p>
        </p:txBody>
      </p:sp>
      <p:sp>
        <p:nvSpPr>
          <p:cNvPr id="5" name="comment-1">
            <a:extLst xmlns:a="http://schemas.openxmlformats.org/drawingml/2006/main">
              <a:ext uri="{FF2B5EF4-FFF2-40B4-BE49-F238E27FC236}">
                <a16:creationId xmlns:a16="http://schemas.microsoft.com/office/drawing/2014/main" id="{46EF595F-11F3-43E6-890E-3AFB5F9A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0992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4会場で最大100点</a:t>
            </a:r>
          </a:p>
        </p:txBody>
      </p:sp>
      <p:sp>
        <p:nvSpPr>
          <p:cNvPr id="6" name="comment-2">
            <a:extLst xmlns:a="http://schemas.openxmlformats.org/drawingml/2006/main">
              <a:ext uri="{FF2B5EF4-FFF2-40B4-BE49-F238E27FC236}">
                <a16:creationId xmlns:a16="http://schemas.microsoft.com/office/drawing/2014/main" id="{B62B112A-8F6A-4FDC-8073-70A90E0A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766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各会場の見た目は10点</a:t>
            </a:r>
          </a:p>
        </p:txBody>
      </p:sp>
      <p:sp>
        <p:nvSpPr>
          <p:cNvPr id="7" name="comment-3">
            <a:extLst xmlns:a="http://schemas.openxmlformats.org/drawingml/2006/main">
              <a:ext uri="{FF2B5EF4-FFF2-40B4-BE49-F238E27FC236}">
                <a16:creationId xmlns:a16="http://schemas.microsoft.com/office/drawing/2014/main" id="{A75D2541-2D09-4CB3-BB82-EFBF25C2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4342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購入数では自動加点しない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D0D7F18-6459-4A98-8C47-3A3D4436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rPr>
              <a:t>4 / 12</a:t>
            </a:r>
          </a:p>
        </p:txBody>
      </p:sp>
    </p:spTree>
    <p:extLst>
      <p:ext uri="{BB962C8B-B14F-4D97-AF65-F5344CB8AC3E}">
        <p14:creationId xmlns:p14="http://schemas.microsoft.com/office/powerpoint/2010/main" val="14947436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763427-7904-4454-B30E-45542286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初期600 GBを、宣伝・衣装・レッスンに使える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5F0E1-D4BB-4911-B7A5-FD09DF4AE30D}"/>
              </a:ext>
            </a:extLst>
          </p:cNvPr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6953250" cy="41910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711768"/>
                <a:gridCol w="2572703"/>
                <a:gridCol w="1668780"/>
              </a:tblGrid>
              <a:tr h="598714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購入するもの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価格／仮案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上限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架空の宣伝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100 GB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5回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スペシャル宣伝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200 GB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1回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衣装素材セット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200 GB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2回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武道館レッスン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300 GB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1回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推し活グッズ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100 GB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3回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ステージ装飾セット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200 GB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2回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comment-heading">
            <a:extLst xmlns:a="http://schemas.openxmlformats.org/drawingml/2006/main">
              <a:ext uri="{FF2B5EF4-FFF2-40B4-BE49-F238E27FC236}">
                <a16:creationId xmlns:a16="http://schemas.microsoft.com/office/drawing/2014/main" id="{4336DE43-3E4E-4B9B-A75E-9F63B765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購入の意味</a:t>
            </a:r>
          </a:p>
        </p:txBody>
      </p:sp>
      <p:sp>
        <p:nvSpPr>
          <p:cNvPr id="4" name="comment-0">
            <a:extLst xmlns:a="http://schemas.openxmlformats.org/drawingml/2006/main">
              <a:ext uri="{FF2B5EF4-FFF2-40B4-BE49-F238E27FC236}">
                <a16:creationId xmlns:a16="http://schemas.microsoft.com/office/drawing/2014/main" id="{F67EBDCD-D3E6-4C09-AF0A-9181BAD8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通常の宣伝はファン2万人</a:t>
            </a:r>
          </a:p>
        </p:txBody>
      </p:sp>
      <p:sp>
        <p:nvSpPr>
          <p:cNvPr id="5" name="comment-1">
            <a:extLst xmlns:a="http://schemas.openxmlformats.org/drawingml/2006/main">
              <a:ext uri="{FF2B5EF4-FFF2-40B4-BE49-F238E27FC236}">
                <a16:creationId xmlns:a16="http://schemas.microsoft.com/office/drawing/2014/main" id="{3A611C52-88BF-4188-8EE0-C3127367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0992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スペシャル宣伝は6万人</a:t>
            </a:r>
          </a:p>
        </p:txBody>
      </p:sp>
      <p:sp>
        <p:nvSpPr>
          <p:cNvPr id="6" name="comment-2">
            <a:extLst xmlns:a="http://schemas.openxmlformats.org/drawingml/2006/main">
              <a:ext uri="{FF2B5EF4-FFF2-40B4-BE49-F238E27FC236}">
                <a16:creationId xmlns:a16="http://schemas.microsoft.com/office/drawing/2014/main" id="{19229B4E-494E-4333-A72A-E7FC6B77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766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衣装・装飾・レッスンは実演を助ける</a:t>
            </a:r>
          </a:p>
        </p:txBody>
      </p:sp>
      <p:sp>
        <p:nvSpPr>
          <p:cNvPr id="7" name="comment-3">
            <a:extLst xmlns:a="http://schemas.openxmlformats.org/drawingml/2006/main">
              <a:ext uri="{FF2B5EF4-FFF2-40B4-BE49-F238E27FC236}">
                <a16:creationId xmlns:a16="http://schemas.microsoft.com/office/drawing/2014/main" id="{FA353F89-30DC-4898-8294-97715BED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4342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支払い前に残高を確認する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462345D-2367-419A-ADB9-63A997BC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rPr>
              <a:t>5 / 12</a:t>
            </a:r>
          </a:p>
        </p:txBody>
      </p:sp>
    </p:spTree>
    <p:extLst>
      <p:ext uri="{BB962C8B-B14F-4D97-AF65-F5344CB8AC3E}">
        <p14:creationId xmlns:p14="http://schemas.microsoft.com/office/powerpoint/2010/main" val="4094882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181E9F-50E8-4BC2-BE14-863529A6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自由枠の仕事でGBを稼ぎ、ライブの準備に回せる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7C26A-849E-4189-87D7-516C0AF0C91D}"/>
              </a:ext>
            </a:extLst>
          </p:cNvPr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6953250" cy="41910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711768"/>
                <a:gridCol w="2572703"/>
                <a:gridCol w="1668780"/>
              </a:tblGrid>
              <a:tr h="8382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仕事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報酬／仮案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回数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古参ファン営業①〜③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各200 GB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各1回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スポンサーCM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300 GB＋ファン2万人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1回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ファンクラブ開設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100 GB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1回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合同ロケ・動画リレー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300 GB＋ファン3万人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1回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comment-heading">
            <a:extLst xmlns:a="http://schemas.openxmlformats.org/drawingml/2006/main">
              <a:ext uri="{FF2B5EF4-FFF2-40B4-BE49-F238E27FC236}">
                <a16:creationId xmlns:a16="http://schemas.microsoft.com/office/drawing/2014/main" id="{86C4B8D7-F604-4892-A261-A6F91936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自由枠の使い方</a:t>
            </a:r>
          </a:p>
        </p:txBody>
      </p:sp>
      <p:sp>
        <p:nvSpPr>
          <p:cNvPr id="4" name="comment-0">
            <a:extLst xmlns:a="http://schemas.openxmlformats.org/drawingml/2006/main">
              <a:ext uri="{FF2B5EF4-FFF2-40B4-BE49-F238E27FC236}">
                <a16:creationId xmlns:a16="http://schemas.microsoft.com/office/drawing/2014/main" id="{9D07E5B9-DE89-49A6-A783-A4612884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次の会場への移動を先に確保する</a:t>
            </a:r>
          </a:p>
        </p:txBody>
      </p:sp>
      <p:sp>
        <p:nvSpPr>
          <p:cNvPr id="5" name="comment-1">
            <a:extLst xmlns:a="http://schemas.openxmlformats.org/drawingml/2006/main">
              <a:ext uri="{FF2B5EF4-FFF2-40B4-BE49-F238E27FC236}">
                <a16:creationId xmlns:a16="http://schemas.microsoft.com/office/drawing/2014/main" id="{20CD1CED-1A13-421C-ABC3-2DADC884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0992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撮影係・応援係・会計係を相談する</a:t>
            </a:r>
          </a:p>
        </p:txBody>
      </p:sp>
      <p:sp>
        <p:nvSpPr>
          <p:cNvPr id="6" name="comment-2">
            <a:extLst xmlns:a="http://schemas.openxmlformats.org/drawingml/2006/main">
              <a:ext uri="{FF2B5EF4-FFF2-40B4-BE49-F238E27FC236}">
                <a16:creationId xmlns:a16="http://schemas.microsoft.com/office/drawing/2014/main" id="{1DCB8E92-E0D1-402E-B1A0-374DAA6D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766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仕事の結果は運営が確認する</a:t>
            </a:r>
          </a:p>
        </p:txBody>
      </p:sp>
      <p:sp>
        <p:nvSpPr>
          <p:cNvPr id="7" name="comment-3">
            <a:extLst xmlns:a="http://schemas.openxmlformats.org/drawingml/2006/main">
              <a:ext uri="{FF2B5EF4-FFF2-40B4-BE49-F238E27FC236}">
                <a16:creationId xmlns:a16="http://schemas.microsoft.com/office/drawing/2014/main" id="{3679DC01-779A-46CF-AC70-2C9504C0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4342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継続収入は17時に清算／仮案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4DD994A-0D38-412D-BDC9-4CA0D6E5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rPr>
              <a:t>6 / 12</a:t>
            </a:r>
          </a:p>
        </p:txBody>
      </p:sp>
    </p:spTree>
    <p:extLst>
      <p:ext uri="{BB962C8B-B14F-4D97-AF65-F5344CB8AC3E}">
        <p14:creationId xmlns:p14="http://schemas.microsoft.com/office/powerpoint/2010/main" val="12055989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929A81-7ECF-4A3E-B8DE-EA553939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スキャンダルは全チーム1回</a:t>
            </a:r>
          </a:p>
          <a:p xmlns:a="http://schemas.openxmlformats.org/drawingml/2006/main">
            <a: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16時45分までに対応を選ぶ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4D253-591D-416D-826D-617ABD126F6E}"/>
              </a:ext>
            </a:extLst>
          </p:cNvPr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6953250" cy="41910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1946910"/>
                <a:gridCol w="2711768"/>
                <a:gridCol w="2294573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対応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すること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結果／仮案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もみ消す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200 GBを払う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減少なし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釈明する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指定語で30秒会見を撮る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成立で2万人増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話題に乗る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15秒の疑惑CMを撮る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成立で3万人増</a:t>
                      </a:r>
                    </a:p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失敗で3万人減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comment-heading">
            <a:extLst xmlns:a="http://schemas.openxmlformats.org/drawingml/2006/main">
              <a:ext uri="{FF2B5EF4-FFF2-40B4-BE49-F238E27FC236}">
                <a16:creationId xmlns:a16="http://schemas.microsoft.com/office/drawing/2014/main" id="{09CF513B-1A3B-4BC7-9D4E-2FE2EF0D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芸能ニュースの予定</a:t>
            </a:r>
          </a:p>
        </p:txBody>
      </p:sp>
      <p:sp>
        <p:nvSpPr>
          <p:cNvPr id="4" name="comment-0">
            <a:extLst xmlns:a="http://schemas.openxmlformats.org/drawingml/2006/main">
              <a:ext uri="{FF2B5EF4-FFF2-40B4-BE49-F238E27FC236}">
                <a16:creationId xmlns:a16="http://schemas.microsoft.com/office/drawing/2014/main" id="{88C25CD7-BA61-4780-B225-898256A5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16:00 掲載予告</a:t>
            </a:r>
          </a:p>
        </p:txBody>
      </p:sp>
      <p:sp>
        <p:nvSpPr>
          <p:cNvPr id="5" name="comment-1">
            <a:extLst xmlns:a="http://schemas.openxmlformats.org/drawingml/2006/main">
              <a:ext uri="{FF2B5EF4-FFF2-40B4-BE49-F238E27FC236}">
                <a16:creationId xmlns:a16="http://schemas.microsoft.com/office/drawing/2014/main" id="{208C9E80-493C-4B97-85C7-93C7519C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0992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16:45 対応締切</a:t>
            </a:r>
          </a:p>
        </p:txBody>
      </p:sp>
      <p:sp>
        <p:nvSpPr>
          <p:cNvPr id="6" name="comment-2">
            <a:extLst xmlns:a="http://schemas.openxmlformats.org/drawingml/2006/main">
              <a:ext uri="{FF2B5EF4-FFF2-40B4-BE49-F238E27FC236}">
                <a16:creationId xmlns:a16="http://schemas.microsoft.com/office/drawing/2014/main" id="{A7EC2CE7-9FC0-4208-B24B-5D11ECD6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766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16:50 結果記事</a:t>
            </a:r>
          </a:p>
        </p:txBody>
      </p:sp>
      <p:sp>
        <p:nvSpPr>
          <p:cNvPr id="7" name="comment-3">
            <a:extLst xmlns:a="http://schemas.openxmlformats.org/drawingml/2006/main">
              <a:ext uri="{FF2B5EF4-FFF2-40B4-BE49-F238E27FC236}">
                <a16:creationId xmlns:a16="http://schemas.microsoft.com/office/drawing/2014/main" id="{4FB9460B-3B26-47E7-A615-36C24D33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4342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未対応は3万人減／仮案</a:t>
            </a:r>
          </a:p>
        </p:txBody>
      </p:sp>
      <p:sp>
        <p:nvSpPr>
          <p:cNvPr id="8" name="comment-4">
            <a:extLst xmlns:a="http://schemas.openxmlformats.org/drawingml/2006/main">
              <a:ext uri="{FF2B5EF4-FFF2-40B4-BE49-F238E27FC236}">
                <a16:creationId xmlns:a16="http://schemas.microsoft.com/office/drawing/2014/main" id="{D6335D14-CE54-48D2-B0AF-DFE3073F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101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架空の疑惑を運営が用意する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3A091AF-28E2-4C2A-99E7-26E6DE86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rPr>
              <a:t>7 / 12</a:t>
            </a:r>
          </a:p>
        </p:txBody>
      </p:sp>
    </p:spTree>
    <p:extLst>
      <p:ext uri="{BB962C8B-B14F-4D97-AF65-F5344CB8AC3E}">
        <p14:creationId xmlns:p14="http://schemas.microsoft.com/office/powerpoint/2010/main" val="15460062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0D4EAD-3EB4-4E84-9ED7-B709D1D7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合同ロケは両チームが得をする共同CMにする</a:t>
            </a:r>
          </a:p>
        </p:txBody>
      </p:sp>
      <p:sp>
        <p:nvSpPr>
          <p:cNvPr id="2" name="column-0">
            <a:extLst xmlns:a="http://schemas.openxmlformats.org/drawingml/2006/main">
              <a:ext uri="{FF2B5EF4-FFF2-40B4-BE49-F238E27FC236}">
                <a16:creationId xmlns:a16="http://schemas.microsoft.com/office/drawing/2014/main" id="{DC2DD383-C040-434E-9B34-A87D3836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105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アイドルが出演する</a:t>
            </a:r>
          </a:p>
        </p:txBody>
      </p:sp>
      <p:sp>
        <p:nvSpPr>
          <p:cNvPr id="3" name="column-0-row-0">
            <a:extLst xmlns:a="http://schemas.openxmlformats.org/drawingml/2006/main">
              <a:ext uri="{FF2B5EF4-FFF2-40B4-BE49-F238E27FC236}">
                <a16:creationId xmlns:a16="http://schemas.microsoft.com/office/drawing/2014/main" id="{A57D482E-F6F2-4B79-AFDE-0E3ACEC2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各グループが短く自己紹介する</a:t>
            </a:r>
          </a:p>
        </p:txBody>
      </p:sp>
      <p:sp>
        <p:nvSpPr>
          <p:cNvPr id="4" name="column-0-row-1">
            <a:extLst xmlns:a="http://schemas.openxmlformats.org/drawingml/2006/main">
              <a:ext uri="{FF2B5EF4-FFF2-40B4-BE49-F238E27FC236}">
                <a16:creationId xmlns:a16="http://schemas.microsoft.com/office/drawing/2014/main" id="{75608775-88C7-4ED4-B050-E55A8DC4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相手グループの魅力を紹介する</a:t>
            </a:r>
          </a:p>
        </p:txBody>
      </p:sp>
      <p:sp>
        <p:nvSpPr>
          <p:cNvPr id="5" name="column-0-row-2">
            <a:extLst xmlns:a="http://schemas.openxmlformats.org/drawingml/2006/main">
              <a:ext uri="{FF2B5EF4-FFF2-40B4-BE49-F238E27FC236}">
                <a16:creationId xmlns:a16="http://schemas.microsoft.com/office/drawing/2014/main" id="{2757DF2F-848D-44B2-B77E-BFBC1710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最後に共同の決め台詞を言う</a:t>
            </a:r>
          </a:p>
        </p:txBody>
      </p:sp>
      <p:sp>
        <p:nvSpPr>
          <p:cNvPr id="6" name="column-1">
            <a:extLst xmlns:a="http://schemas.openxmlformats.org/drawingml/2006/main">
              <a:ext uri="{FF2B5EF4-FFF2-40B4-BE49-F238E27FC236}">
                <a16:creationId xmlns:a16="http://schemas.microsoft.com/office/drawing/2014/main" id="{A1DA7AD5-AB76-46B7-8362-9F75B53B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05000"/>
            <a:ext cx="5105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古参ファンが番組を作る</a:t>
            </a:r>
          </a:p>
        </p:txBody>
      </p:sp>
      <p:sp>
        <p:nvSpPr>
          <p:cNvPr id="7" name="column-1-row-0">
            <a:extLst xmlns:a="http://schemas.openxmlformats.org/drawingml/2006/main">
              <a:ext uri="{FF2B5EF4-FFF2-40B4-BE49-F238E27FC236}">
                <a16:creationId xmlns:a16="http://schemas.microsoft.com/office/drawing/2014/main" id="{787F7EB2-5001-4836-BECE-6666B034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3370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撮影・進行・応援を分担する</a:t>
            </a:r>
          </a:p>
        </p:txBody>
      </p:sp>
      <p:sp>
        <p:nvSpPr>
          <p:cNvPr id="8" name="column-1-row-1">
            <a:extLst xmlns:a="http://schemas.openxmlformats.org/drawingml/2006/main">
              <a:ext uri="{FF2B5EF4-FFF2-40B4-BE49-F238E27FC236}">
                <a16:creationId xmlns:a16="http://schemas.microsoft.com/office/drawing/2014/main" id="{3C838514-6327-4F04-9705-FC459B81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6715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集合が難しければ動画リレーにする</a:t>
            </a:r>
          </a:p>
        </p:txBody>
      </p:sp>
      <p:sp>
        <p:nvSpPr>
          <p:cNvPr id="9" name="column-1-row-2">
            <a:extLst xmlns:a="http://schemas.openxmlformats.org/drawingml/2006/main">
              <a:ext uri="{FF2B5EF4-FFF2-40B4-BE49-F238E27FC236}">
                <a16:creationId xmlns:a16="http://schemas.microsoft.com/office/drawing/2014/main" id="{F31D33ED-DBA4-49CF-90FE-4CB22D5A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0060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運営が両組に同じ報酬を付ける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132C8D0-DE02-45AC-83C5-E86A0CD1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rPr>
              <a:t>8 / 12</a:t>
            </a:r>
          </a:p>
        </p:txBody>
      </p:sp>
    </p:spTree>
    <p:extLst>
      <p:ext uri="{BB962C8B-B14F-4D97-AF65-F5344CB8AC3E}">
        <p14:creationId xmlns:p14="http://schemas.microsoft.com/office/powerpoint/2010/main" val="12839891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D3766F-5D7F-40BC-9C35-CC57B549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武道館の60点が、最後のファン数を大きく動かす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244B9-CAC3-4EE7-A1D9-442E8FCB42DC}"/>
              </a:ext>
            </a:extLst>
          </p:cNvPr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6953250" cy="41910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824288"/>
                <a:gridCol w="3128963"/>
              </a:tblGrid>
              <a:tr h="6985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武道館の評価項目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満点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ファンの盛り上がり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10点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ビジュアル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15点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面白さ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10点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アイドル全員が輝いているか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10点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グループカラーの装飾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15点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comment-heading">
            <a:extLst xmlns:a="http://schemas.openxmlformats.org/drawingml/2006/main">
              <a:ext uri="{FF2B5EF4-FFF2-40B4-BE49-F238E27FC236}">
                <a16:creationId xmlns:a16="http://schemas.microsoft.com/office/drawing/2014/main" id="{B8720E36-34B4-4F3C-AFE7-25104B75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ライブのルール</a:t>
            </a:r>
          </a:p>
        </p:txBody>
      </p:sp>
      <p:sp>
        <p:nvSpPr>
          <p:cNvPr id="4" name="comment-0">
            <a:extLst xmlns:a="http://schemas.openxmlformats.org/drawingml/2006/main">
              <a:ext uri="{FF2B5EF4-FFF2-40B4-BE49-F238E27FC236}">
                <a16:creationId xmlns:a16="http://schemas.microsoft.com/office/drawing/2014/main" id="{02079944-B72F-4053-A8B6-52A08028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1グループ3分の演目</a:t>
            </a:r>
          </a:p>
        </p:txBody>
      </p:sp>
      <p:sp>
        <p:nvSpPr>
          <p:cNvPr id="5" name="comment-1">
            <a:extLst xmlns:a="http://schemas.openxmlformats.org/drawingml/2006/main">
              <a:ext uri="{FF2B5EF4-FFF2-40B4-BE49-F238E27FC236}">
                <a16:creationId xmlns:a16="http://schemas.microsoft.com/office/drawing/2014/main" id="{BE0D1F44-C4A4-440D-96E1-B8BEABC9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0992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同じ演目を複数組が選べる</a:t>
            </a:r>
          </a:p>
        </p:txBody>
      </p:sp>
      <p:sp>
        <p:nvSpPr>
          <p:cNvPr id="6" name="comment-2">
            <a:extLst xmlns:a="http://schemas.openxmlformats.org/drawingml/2006/main">
              <a:ext uri="{FF2B5EF4-FFF2-40B4-BE49-F238E27FC236}">
                <a16:creationId xmlns:a16="http://schemas.microsoft.com/office/drawing/2014/main" id="{B9BD5EAA-801E-41E7-AF9B-6ECE297F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766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審査員3人の平均／仮案</a:t>
            </a:r>
          </a:p>
        </p:txBody>
      </p:sp>
      <p:sp>
        <p:nvSpPr>
          <p:cNvPr id="7" name="comment-3">
            <a:extLst xmlns:a="http://schemas.openxmlformats.org/drawingml/2006/main">
              <a:ext uri="{FF2B5EF4-FFF2-40B4-BE49-F238E27FC236}">
                <a16:creationId xmlns:a16="http://schemas.microsoft.com/office/drawing/2014/main" id="{2225FF1B-AAFB-4318-BBBE-4C651A06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4342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1点につきファン1万人</a:t>
            </a:r>
          </a:p>
        </p:txBody>
      </p:sp>
      <p:sp>
        <p:nvSpPr>
          <p:cNvPr id="8" name="comment-4">
            <a:extLst xmlns:a="http://schemas.openxmlformats.org/drawingml/2006/main">
              <a:ext uri="{FF2B5EF4-FFF2-40B4-BE49-F238E27FC236}">
                <a16:creationId xmlns:a16="http://schemas.microsoft.com/office/drawing/2014/main" id="{03C69113-A6E0-45DD-9543-9421AE91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101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上位から出演順を選ぶ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6BA6040-C802-4CE4-B391-75BACB8F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rPr>
              <a:t>9 / 12</a:t>
            </a:r>
          </a:p>
        </p:txBody>
      </p:sp>
    </p:spTree>
    <p:extLst>
      <p:ext uri="{BB962C8B-B14F-4D97-AF65-F5344CB8AC3E}">
        <p14:creationId xmlns:p14="http://schemas.microsoft.com/office/powerpoint/2010/main" val="9126108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6F7969-F7D7-421A-91AF-51C3D910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全チームのファン数・順位・GBを同じ画面で見られる</a:t>
            </a:r>
          </a:p>
        </p:txBody>
      </p:sp>
      <p:sp>
        <p:nvSpPr>
          <p:cNvPr id="2" name="column-0">
            <a:extLst xmlns:a="http://schemas.openxmlformats.org/drawingml/2006/main">
              <a:ext uri="{FF2B5EF4-FFF2-40B4-BE49-F238E27FC236}">
                <a16:creationId xmlns:a16="http://schemas.microsoft.com/office/drawing/2014/main" id="{27758313-E5E6-406E-BD1A-F0FC6C6F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105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公開ダッシュボードで確認する</a:t>
            </a:r>
          </a:p>
        </p:txBody>
      </p:sp>
      <p:sp>
        <p:nvSpPr>
          <p:cNvPr id="3" name="column-0-row-0">
            <a:extLst xmlns:a="http://schemas.openxmlformats.org/drawingml/2006/main">
              <a:ext uri="{FF2B5EF4-FFF2-40B4-BE49-F238E27FC236}">
                <a16:creationId xmlns:a16="http://schemas.microsoft.com/office/drawing/2014/main" id="{14908065-2650-4F4F-8C86-AB2A3850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ファン数と暫定順位を見る</a:t>
            </a:r>
          </a:p>
        </p:txBody>
      </p:sp>
      <p:sp>
        <p:nvSpPr>
          <p:cNvPr id="4" name="column-0-row-1">
            <a:extLst xmlns:a="http://schemas.openxmlformats.org/drawingml/2006/main">
              <a:ext uri="{FF2B5EF4-FFF2-40B4-BE49-F238E27FC236}">
                <a16:creationId xmlns:a16="http://schemas.microsoft.com/office/drawing/2014/main" id="{54A74869-EA1D-411C-81C2-DD5D4AB3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全チームのGB残高を見る</a:t>
            </a:r>
          </a:p>
        </p:txBody>
      </p:sp>
      <p:sp>
        <p:nvSpPr>
          <p:cNvPr id="5" name="column-0-row-2">
            <a:extLst xmlns:a="http://schemas.openxmlformats.org/drawingml/2006/main">
              <a:ext uri="{FF2B5EF4-FFF2-40B4-BE49-F238E27FC236}">
                <a16:creationId xmlns:a16="http://schemas.microsoft.com/office/drawing/2014/main" id="{007E272C-FE14-468E-AA55-9346263C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最新ニュースと次の締切を見る</a:t>
            </a:r>
          </a:p>
        </p:txBody>
      </p:sp>
      <p:sp>
        <p:nvSpPr>
          <p:cNvPr id="6" name="column-1">
            <a:extLst xmlns:a="http://schemas.openxmlformats.org/drawingml/2006/main">
              <a:ext uri="{FF2B5EF4-FFF2-40B4-BE49-F238E27FC236}">
                <a16:creationId xmlns:a16="http://schemas.microsoft.com/office/drawing/2014/main" id="{9F554168-DD79-43FD-9322-52BA5F70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05000"/>
            <a:ext cx="5105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食い違いは運営へ伝える</a:t>
            </a:r>
          </a:p>
        </p:txBody>
      </p:sp>
      <p:sp>
        <p:nvSpPr>
          <p:cNvPr id="7" name="column-1-row-0">
            <a:extLst xmlns:a="http://schemas.openxmlformats.org/drawingml/2006/main">
              <a:ext uri="{FF2B5EF4-FFF2-40B4-BE49-F238E27FC236}">
                <a16:creationId xmlns:a16="http://schemas.microsoft.com/office/drawing/2014/main" id="{C2452FE4-5AA2-4C1A-BEF2-31608355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3370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チーム名・出来事・時刻をLINEで送る</a:t>
            </a:r>
          </a:p>
        </p:txBody>
      </p:sp>
      <p:sp>
        <p:nvSpPr>
          <p:cNvPr id="8" name="column-1-row-1">
            <a:extLst xmlns:a="http://schemas.openxmlformats.org/drawingml/2006/main">
              <a:ext uri="{FF2B5EF4-FFF2-40B4-BE49-F238E27FC236}">
                <a16:creationId xmlns:a16="http://schemas.microsoft.com/office/drawing/2014/main" id="{3D88CD9A-17B4-4B14-9219-8D2FE2B4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6715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申請の受付と反映完了を区別する</a:t>
            </a:r>
          </a:p>
        </p:txBody>
      </p:sp>
      <p:sp>
        <p:nvSpPr>
          <p:cNvPr id="9" name="column-1-row-2">
            <a:extLst xmlns:a="http://schemas.openxmlformats.org/drawingml/2006/main">
              <a:ext uri="{FF2B5EF4-FFF2-40B4-BE49-F238E27FC236}">
                <a16:creationId xmlns:a16="http://schemas.microsoft.com/office/drawing/2014/main" id="{116AE12E-1A62-4183-896B-F97ACFFD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0060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運営の訂正後に公開値を再確認する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381A4D3-4E0E-4FE7-AA2D-CD17D36B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7927689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9F581D-872E-497B-A276-7FB2F62F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移動と集合を守り、出演のしかたはチームで選べる</a:t>
            </a:r>
          </a:p>
        </p:txBody>
      </p:sp>
      <p:sp>
        <p:nvSpPr>
          <p:cNvPr id="2" name="column-0">
            <a:extLst xmlns:a="http://schemas.openxmlformats.org/drawingml/2006/main">
              <a:ext uri="{FF2B5EF4-FFF2-40B4-BE49-F238E27FC236}">
                <a16:creationId xmlns:a16="http://schemas.microsoft.com/office/drawing/2014/main" id="{AF226E1B-821E-46D7-A170-FBF8587B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105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行動中に守ること</a:t>
            </a:r>
          </a:p>
        </p:txBody>
      </p:sp>
      <p:sp>
        <p:nvSpPr>
          <p:cNvPr id="3" name="column-0-row-0">
            <a:extLst xmlns:a="http://schemas.openxmlformats.org/drawingml/2006/main">
              <a:ext uri="{FF2B5EF4-FFF2-40B4-BE49-F238E27FC236}">
                <a16:creationId xmlns:a16="http://schemas.microsoft.com/office/drawing/2014/main" id="{0F37E8C4-CE59-40C4-900B-E23EA66F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チーム全員で行動し、徒歩で移動する</a:t>
            </a:r>
          </a:p>
        </p:txBody>
      </p:sp>
      <p:sp>
        <p:nvSpPr>
          <p:cNvPr id="4" name="column-0-row-1">
            <a:extLst xmlns:a="http://schemas.openxmlformats.org/drawingml/2006/main">
              <a:ext uri="{FF2B5EF4-FFF2-40B4-BE49-F238E27FC236}">
                <a16:creationId xmlns:a16="http://schemas.microsoft.com/office/drawing/2014/main" id="{14478BC5-4592-4901-965D-9B663A13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通行を妨げず、会場担当の指示を守る</a:t>
            </a:r>
          </a:p>
        </p:txBody>
      </p:sp>
      <p:sp>
        <p:nvSpPr>
          <p:cNvPr id="5" name="column-0-row-2">
            <a:extLst xmlns:a="http://schemas.openxmlformats.org/drawingml/2006/main">
              <a:ext uri="{FF2B5EF4-FFF2-40B4-BE49-F238E27FC236}">
                <a16:creationId xmlns:a16="http://schemas.microsoft.com/office/drawing/2014/main" id="{A2FC81B2-BFD1-4B83-BACC-FEA3FA13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撮影は参加者と運営を中心に行う</a:t>
            </a:r>
          </a:p>
        </p:txBody>
      </p:sp>
      <p:sp>
        <p:nvSpPr>
          <p:cNvPr id="6" name="column-1">
            <a:extLst xmlns:a="http://schemas.openxmlformats.org/drawingml/2006/main">
              <a:ext uri="{FF2B5EF4-FFF2-40B4-BE49-F238E27FC236}">
                <a16:creationId xmlns:a16="http://schemas.microsoft.com/office/drawing/2014/main" id="{B772C3F9-A69D-4368-9B67-935D0EC0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05000"/>
            <a:ext cx="5105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難しいときに相談すること</a:t>
            </a:r>
          </a:p>
        </p:txBody>
      </p:sp>
      <p:sp>
        <p:nvSpPr>
          <p:cNvPr id="7" name="column-1-row-0">
            <a:extLst xmlns:a="http://schemas.openxmlformats.org/drawingml/2006/main">
              <a:ext uri="{FF2B5EF4-FFF2-40B4-BE49-F238E27FC236}">
                <a16:creationId xmlns:a16="http://schemas.microsoft.com/office/drawing/2014/main" id="{3384BECD-9DF5-4249-B9C8-AF511953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3370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体調・苦手な演目は運営へ早めに伝える</a:t>
            </a:r>
          </a:p>
        </p:txBody>
      </p:sp>
      <p:sp>
        <p:nvSpPr>
          <p:cNvPr id="8" name="column-1-row-1">
            <a:extLst xmlns:a="http://schemas.openxmlformats.org/drawingml/2006/main">
              <a:ext uri="{FF2B5EF4-FFF2-40B4-BE49-F238E27FC236}">
                <a16:creationId xmlns:a16="http://schemas.microsoft.com/office/drawing/2014/main" id="{204399F1-30C9-4AAE-AE3E-B32F064D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6715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無理な動きや食べ物の強要は行わない</a:t>
            </a:r>
          </a:p>
        </p:txBody>
      </p:sp>
      <p:sp>
        <p:nvSpPr>
          <p:cNvPr id="9" name="column-1-row-2">
            <a:extLst xmlns:a="http://schemas.openxmlformats.org/drawingml/2006/main">
              <a:ext uri="{FF2B5EF4-FFF2-40B4-BE49-F238E27FC236}">
                <a16:creationId xmlns:a16="http://schemas.microsoft.com/office/drawing/2014/main" id="{29E99D07-D109-4CB5-8B9A-CC361501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0060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遅れたら本部に次の行先を確認する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3399C5C-CC0C-4AAF-868A-27360F3B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1474829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24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1E2328-FD34-4CA0-93A6-0F3DDF9E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4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327アイドル駅伝</a:t>
            </a:r>
          </a:p>
        </p:txBody>
      </p:sp>
      <p:sp>
        <p:nvSpPr>
          <p:cNvPr id="2" name="cover-lead">
            <a:extLst xmlns:a="http://schemas.openxmlformats.org/drawingml/2006/main">
              <a:ext uri="{FF2B5EF4-FFF2-40B4-BE49-F238E27FC236}">
                <a16:creationId xmlns:a16="http://schemas.microsoft.com/office/drawing/2014/main" id="{D58C886C-C8BB-4F40-93BA-458B5F49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0">
                <a:solidFill>
                  <a:srgbClr val="F6A4B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F6A4BF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0">
                <a:solidFill>
                  <a:srgbClr val="F6A4BF"/>
                </a:solidFill>
                <a:latin typeface="Noto Sans JP"/>
                <a:ea typeface="Noto Sans JP"/>
                <a:cs typeface="Noto Sans JP"/>
              </a:rPr>
              <a:t>問い合わせはチームLINEから運営へ</a:t>
            </a:r>
          </a:p>
        </p:txBody>
      </p:sp>
      <p:sp>
        <p:nvSpPr>
          <p:cNvPr id="3" name="cover-detail">
            <a:extLst xmlns:a="http://schemas.openxmlformats.org/drawingml/2006/main">
              <a:ext uri="{FF2B5EF4-FFF2-40B4-BE49-F238E27FC236}">
                <a16:creationId xmlns:a16="http://schemas.microsoft.com/office/drawing/2014/main" id="{DDB833B6-C6C8-4BD0-98DD-5189DAE9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8204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集合場所：恵迪寮 共用棟「武道館」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集合 17:20　開演 17:30</a:t>
            </a:r>
          </a:p>
        </p:txBody>
      </p:sp>
    </p:spTree>
    <p:extLst>
      <p:ext uri="{BB962C8B-B14F-4D97-AF65-F5344CB8AC3E}">
        <p14:creationId xmlns:p14="http://schemas.microsoft.com/office/powerpoint/2010/main" val="16054732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2026-10-10T20:13:01.0620000Z</dcterms:created>
  <dcterms:modified xsi:type="dcterms:W3CDTF">2026-10-10T20:13:01.0620000Z</dcterms:modified>
</coreProperties>
</file>