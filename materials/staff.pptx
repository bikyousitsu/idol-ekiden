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92b3da5477499b" /><Relationship Type="http://schemas.openxmlformats.org/officeDocument/2006/relationships/extended-properties" Target="/docProps/app.xml" Id="Rfe4505ae483f4eb6" /><Relationship Type="http://schemas.openxmlformats.org/officeDocument/2006/relationships/officeDocument" Target="/ppt/presentation.xml" Id="R9a123465de704d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9f84f98d9b49c4"/>
  </p:sldMasterIdLst>
  <p:notesMasterIdLst>
    <p:notesMasterId xmlns:r="http://schemas.openxmlformats.org/officeDocument/2006/relationships" r:id="Rce8f77a936354fed"/>
  </p:notesMasterIdLst>
  <p:sldIdLst>
    <p:sldId xmlns:r="http://schemas.openxmlformats.org/officeDocument/2006/relationships" id="256" r:id="R3af34c2046cf46e5"/>
    <p:sldId xmlns:r="http://schemas.openxmlformats.org/officeDocument/2006/relationships" id="257" r:id="Re884142c76d148fe"/>
    <p:sldId xmlns:r="http://schemas.openxmlformats.org/officeDocument/2006/relationships" id="258" r:id="R3c9c1802695748f2"/>
    <p:sldId xmlns:r="http://schemas.openxmlformats.org/officeDocument/2006/relationships" id="259" r:id="Radd3281092974dc8"/>
    <p:sldId xmlns:r="http://schemas.openxmlformats.org/officeDocument/2006/relationships" id="260" r:id="Re9e01ac092404501"/>
    <p:sldId xmlns:r="http://schemas.openxmlformats.org/officeDocument/2006/relationships" id="261" r:id="Rd93e3cb4157848da"/>
    <p:sldId xmlns:r="http://schemas.openxmlformats.org/officeDocument/2006/relationships" id="262" r:id="R8842c64be9124c75"/>
    <p:sldId xmlns:r="http://schemas.openxmlformats.org/officeDocument/2006/relationships" id="263" r:id="R41addad40f3048df"/>
    <p:sldId xmlns:r="http://schemas.openxmlformats.org/officeDocument/2006/relationships" id="264" r:id="R848504d9ed3c4720"/>
    <p:sldId xmlns:r="http://schemas.openxmlformats.org/officeDocument/2006/relationships" id="265" r:id="R71bcd3cb077a47cf"/>
    <p:sldId xmlns:r="http://schemas.openxmlformats.org/officeDocument/2006/relationships" id="266" r:id="R256ffae802ff42d9"/>
    <p:sldId xmlns:r="http://schemas.openxmlformats.org/officeDocument/2006/relationships" id="267" r:id="R8fd7b966fe6e42b1"/>
    <p:sldId xmlns:r="http://schemas.openxmlformats.org/officeDocument/2006/relationships" id="268" r:id="R82f3410c052746ee"/>
    <p:sldId xmlns:r="http://schemas.openxmlformats.org/officeDocument/2006/relationships" id="269" r:id="Rd94c3a79320a46c1"/>
    <p:sldId xmlns:r="http://schemas.openxmlformats.org/officeDocument/2006/relationships" id="270" r:id="Rf92e6a5b13014140"/>
    <p:sldId xmlns:r="http://schemas.openxmlformats.org/officeDocument/2006/relationships" id="271" r:id="R6e1744f36fb74e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86e77a1440443b" /><Relationship Type="http://schemas.openxmlformats.org/officeDocument/2006/relationships/slideMaster" Target="/ppt/slideMasters/slideMaster1.xml" Id="R6c9f84f98d9b49c4" /><Relationship Type="http://schemas.openxmlformats.org/officeDocument/2006/relationships/notesMaster" Target="/ppt/notesMasters/notesMaster1.xml" Id="Rce8f77a936354fed" /><Relationship Type="http://schemas.openxmlformats.org/officeDocument/2006/relationships/presProps" Target="/ppt/presProps.xml" Id="R2892691402fe4f48" /><Relationship Type="http://schemas.openxmlformats.org/officeDocument/2006/relationships/tableStyles" Target="/ppt/tableStyles.xml" Id="R3427c20961584655" /><Relationship Type="http://schemas.openxmlformats.org/officeDocument/2006/relationships/slide" Target="/ppt/slides/slide1.xml" Id="R3af34c2046cf46e5" /><Relationship Type="http://schemas.openxmlformats.org/officeDocument/2006/relationships/slide" Target="/ppt/slides/slide2.xml" Id="Re884142c76d148fe" /><Relationship Type="http://schemas.openxmlformats.org/officeDocument/2006/relationships/slide" Target="/ppt/slides/slide3.xml" Id="R3c9c1802695748f2" /><Relationship Type="http://schemas.openxmlformats.org/officeDocument/2006/relationships/slide" Target="/ppt/slides/slide4.xml" Id="Radd3281092974dc8" /><Relationship Type="http://schemas.openxmlformats.org/officeDocument/2006/relationships/slide" Target="/ppt/slides/slide5.xml" Id="Re9e01ac092404501" /><Relationship Type="http://schemas.openxmlformats.org/officeDocument/2006/relationships/slide" Target="/ppt/slides/slide6.xml" Id="Rd93e3cb4157848da" /><Relationship Type="http://schemas.openxmlformats.org/officeDocument/2006/relationships/slide" Target="/ppt/slides/slide7.xml" Id="R8842c64be9124c75" /><Relationship Type="http://schemas.openxmlformats.org/officeDocument/2006/relationships/slide" Target="/ppt/slides/slide8.xml" Id="R41addad40f3048df" /><Relationship Type="http://schemas.openxmlformats.org/officeDocument/2006/relationships/slide" Target="/ppt/slides/slide9.xml" Id="R848504d9ed3c4720" /><Relationship Type="http://schemas.openxmlformats.org/officeDocument/2006/relationships/slide" Target="/ppt/slides/slide10.xml" Id="R71bcd3cb077a47cf" /><Relationship Type="http://schemas.openxmlformats.org/officeDocument/2006/relationships/slide" Target="/ppt/slides/slide11.xml" Id="R256ffae802ff42d9" /><Relationship Type="http://schemas.openxmlformats.org/officeDocument/2006/relationships/slide" Target="/ppt/slides/slide12.xml" Id="R8fd7b966fe6e42b1" /><Relationship Type="http://schemas.openxmlformats.org/officeDocument/2006/relationships/slide" Target="/ppt/slides/slide13.xml" Id="R82f3410c052746ee" /><Relationship Type="http://schemas.openxmlformats.org/officeDocument/2006/relationships/slide" Target="/ppt/slides/slide14.xml" Id="Rd94c3a79320a46c1" /><Relationship Type="http://schemas.openxmlformats.org/officeDocument/2006/relationships/slide" Target="/ppt/slides/slide15.xml" Id="Rf92e6a5b13014140" /><Relationship Type="http://schemas.openxmlformats.org/officeDocument/2006/relationships/slide" Target="/ppt/slides/slide16.xml" Id="R6e1744f36fb74e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f99a655594b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9f65fd6a5f4ab6" /><Relationship Type="http://schemas.openxmlformats.org/officeDocument/2006/relationships/notesMaster" Target="/ppt/notesMasters/notesMaster1.xml" Id="R9621ea3b802047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ffe806e40c4626" /><Relationship Type="http://schemas.openxmlformats.org/officeDocument/2006/relationships/notesMaster" Target="/ppt/notesMasters/notesMaster1.xml" Id="Rdfcdeb9193f547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8a761ca8854a78" /><Relationship Type="http://schemas.openxmlformats.org/officeDocument/2006/relationships/notesMaster" Target="/ppt/notesMasters/notesMaster1.xml" Id="Rd63c70cc21334a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1644daaa064381" /><Relationship Type="http://schemas.openxmlformats.org/officeDocument/2006/relationships/notesMaster" Target="/ppt/notesMasters/notesMaster1.xml" Id="R2c2e44b1f4c24f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2dd335e7834d86" /><Relationship Type="http://schemas.openxmlformats.org/officeDocument/2006/relationships/notesMaster" Target="/ppt/notesMasters/notesMaster1.xml" Id="R09834e7a92c24f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7495c239814435" /><Relationship Type="http://schemas.openxmlformats.org/officeDocument/2006/relationships/notesMaster" Target="/ppt/notesMasters/notesMaster1.xml" Id="Rbfb811523197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cf336b952542fe" /><Relationship Type="http://schemas.openxmlformats.org/officeDocument/2006/relationships/notesMaster" Target="/ppt/notesMasters/notesMaster1.xml" Id="R7b0acf83441e43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5401f4578b4172" /><Relationship Type="http://schemas.openxmlformats.org/officeDocument/2006/relationships/notesMaster" Target="/ppt/notesMasters/notesMaster1.xml" Id="R2000c64d594244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02ad36297c47f2" /><Relationship Type="http://schemas.openxmlformats.org/officeDocument/2006/relationships/notesMaster" Target="/ppt/notesMasters/notesMaster1.xml" Id="Rb358a353afff42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dc18efc5fb45ef" /><Relationship Type="http://schemas.openxmlformats.org/officeDocument/2006/relationships/notesMaster" Target="/ppt/notesMasters/notesMaster1.xml" Id="R61ff2011b6cd45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6b217a576949f7" /><Relationship Type="http://schemas.openxmlformats.org/officeDocument/2006/relationships/notesMaster" Target="/ppt/notesMasters/notesMaster1.xml" Id="R3da062eed4174e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467200987a4555" /><Relationship Type="http://schemas.openxmlformats.org/officeDocument/2006/relationships/notesMaster" Target="/ppt/notesMasters/notesMaster1.xml" Id="Ra1a38b003d304f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eca8508b8046e9" /><Relationship Type="http://schemas.openxmlformats.org/officeDocument/2006/relationships/notesMaster" Target="/ppt/notesMasters/notesMaster1.xml" Id="Rd933c397a02c4b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1ebeb8df284f80" /><Relationship Type="http://schemas.openxmlformats.org/officeDocument/2006/relationships/notesMaster" Target="/ppt/notesMasters/notesMaster1.xml" Id="Red3ca020e86748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5b677b1c7f473d" /><Relationship Type="http://schemas.openxmlformats.org/officeDocument/2006/relationships/notesMaster" Target="/ppt/notesMasters/notesMaster1.xml" Id="R64ac137fec8347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8419c131704555" /><Relationship Type="http://schemas.openxmlformats.org/officeDocument/2006/relationships/notesMaster" Target="/ppt/notesMasters/notesMaster1.xml" Id="Rc2581e78dbee47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運営説明を始めます。参加者に見せる値は共通ルールからそろえます。今日は各担当の実施と本部への報告、スキャンダル、ニュース、最後のライブを確認します。個人配置と15分枠、金額は仮案です。歩行実測と事前の通し練習で調整し、開始前に当日版を一つに決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資料はこの流れで確認します。会場の採点、仕事の成立判定、本部での入力と公開は分担します。迷った判断は森本へ集めます。自由イベントが忙しいときも、ツアー予約と17時20分の集合を優先します。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名前はユーザーが示したメンバーです。会場の個人配置は仮案で、参加可能時間の確認が必要です。森本は全体のオペレーションと質問対応、小峰は本部イベントと台帳・物販を担当します。6チームに同行マネージャーを常時付ける想定ではありません。開会司会が終了してから武道館司会が入る交代案で、同時稼働を最大11人にします。名簿全体は13人なので、同時人数と参加実人数を混同し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時開始、17時30分開演が確定です。それ以外の区切りと18時終了は仮案です。ツアーの最終枠は16時45分から17時で、内容は冒頭5分まで。遠い会場にいるチームの帰路は必ず実測します。自由枠は移動と準備も含む時間で、追加仕事を必須に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はクラーク像前、Bは博物館前、Cは工学部噴水前、Dは18条ステージです。各列で同じ会場が二重に登場せず、各チームは四会場を一度ずつ回ります。DからAへの長い移動の途中には二つの自由枠を置きました。各枠の最初の5分を会場の実施時間とし、残りは移動です。会場間10分が実際に成立するか、17時20分までに共用棟へ戻れるかを事前に歩いて検証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分枠の進め方です。会場担当は合計点だけでなく、各項目の値も送ってください。長い説明で演技の時間を消さないよう、同じお題を一組分練習してから本番へ入ります。点数は紙にも残します。遅れてきたチームを無断で次の予約に重ねず、本部へ相談します。時間が足りない会場は事前に内容を短く調整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会場は5点、5点、5点、10点で合計25点です。最大値と最低値を先に説明します。採点は購入した衣装の数ではなく実物と表現を見ます。身体能力の課題を行えない場合の代替お題を用意し、同じ満点で評価します。全体公開は本部が入力し、1点あたり1万人を加算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物販はまずチームを確認し、公開残高と購入回数を見ます。購入申請と受け渡しは一件の取引として記録してください。GBの減算前に品物を渡すと、後から二重処理しやすくなります。通常の宣伝はファン2万人、スペシャル宣伝は6万人で、後者には提出物確認を必要とします。衣装と装飾は自動加点しません。すべて17時20分で締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仕事の難しさをその場の気分で変えず、お題と成立条件を事前に示します。成立したらチーム、仕事名、受付時刻、確認担当を送ります。営業は①②③で各一回。合同ロケは相手のチームIDも残します。ツアーの時間に食い込む追加仕事は誘わず、間に合わない場合は動画リレーや未実施を選べ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期の案には定期収入がありましたが、今回の試運転では17時の一回清算にまとめます。スポンサーは成立済みなら200GB追加。ファンクラブは17時時点のファン数を10万人単位で切り捨て、単位数に50GBを掛け、上限300GBです。17時直前の未反映処理を解消してから基準値を固定します。時間を過ぎていることだけを理由に報酬を勝手に消さず、受付時刻を見て判断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キャンダルは全チーム一回です。題材は違っても価格、動画時間、結果は同じにします。成立条件は指定語を含む、時間内、疑惑を扱うなど確認可能な条件にし、面白さだけで失敗としないでください。対応を一つ確定したら別の対応を二重登録しません。もみ消した記事は実際に秘密を暴くのではなく、掲載見送りという架空の短いニュース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割上は同じ自由枠でも現場が離れていることがあります。ペアは例としてG1とG2、G3とG4、G5とG6ですが、当日の動線に応じて本部が確定します。全組に同じ動画リレーの代替を示してください。相手の提出待ちで次の会場へ遅れないよう、各組が提出した後は別行動へ戻れます。グループ同士を合流させるために予約を崩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ニュースは入力が確定してから書きます。AIを使う場合も、運営が数値と内容を確認します。未確定の採点を記事で先に発表しないでください。掲載先はイベントのダッシュボードとLINEで、外部SNSへの投稿は別途本人の意向を確認します。個人の秘密や本物の疑惑は記事に使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値はイベントの台帳から計算します。運営側の入力は本部端末を基本とし、配信は手動です。同時に編集したときは最新の台帳を再確認し、処理を重ねないでください。公開環境と端末間の同期は本番前に通し試験を行います。紙の原票を持ち、通信が止まったら記録を続けます。復旧後は二重登録を防いで照合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組の三分で18分、各組の転換1分を六回で6分、合計24分を目安にします。17時30分までに紹介を終え、残りの六分を集計中の司会芸と受賞に使う18時終演の仮案です。採点は五項目だけで60点。各審査員の五項目合計を平均し、最後に一度だけ小数1位へ丸め、1点1万人で加算する案です。すべての提出が入ったことを確認してから順位を確定します。同点時の決め方はルール確定時に参加者へ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担当は自分の説明と原票を確認してください。物品、徒歩時間、司会の交代、雨天代替、採点の通し練習、音源、入力端末、通信断用の紙台帳は開始前に確認します。未確定の担当や価格を当日までに一つのルールへそろえましょ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出典：企画議事録と共通ルール 2026-10-11-draft-1。デザイン参考：https://github.com/carnot-tech/consulting-pptx-skill/blob/main/references/slide-rules.md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343db8c1749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29980fce44d5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c5dbc73ff49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1b7a88239846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5dc74ad5b444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1be439188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7922D5-A246-4EA2-991C-CA7A7364C7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E38317-E018-47F5-9237-1E05FB9BF7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62BB0E-9897-4DFD-B079-AB4F8A2133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0CEED1-AE93-4A58-AC9B-CF493CE58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248738-BF87-47C3-92BE-06B7052B64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CE98B4-6E74-45C5-92C6-2A7A841A5A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C3E5D3-7AD7-4A6E-BD8D-7C2C4EC00D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42335C-7346-46A2-82E1-633B6C0B35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6B50A3-C416-44BD-B15B-E72263738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3D5929-A734-482B-8817-EF55F08801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7056e67571485c" /><Relationship Type="http://schemas.openxmlformats.org/officeDocument/2006/relationships/slideLayout" Target="/ppt/slideLayouts/slideLayout1.xml" Id="R13d07120a05b4870" /><Relationship Type="http://schemas.openxmlformats.org/officeDocument/2006/relationships/slideLayout" Target="/ppt/slideLayouts/slideLayout2.xml" Id="R3e83084ac1354aca" /><Relationship Type="http://schemas.openxmlformats.org/officeDocument/2006/relationships/slideLayout" Target="/ppt/slideLayouts/slideLayout3.xml" Id="R7ce184868baa42d3" /><Relationship Type="http://schemas.openxmlformats.org/officeDocument/2006/relationships/slideLayout" Target="/ppt/slideLayouts/slideLayout4.xml" Id="R0ca473a6adb14d8b" /><Relationship Type="http://schemas.openxmlformats.org/officeDocument/2006/relationships/slideLayout" Target="/ppt/slideLayouts/slideLayout5.xml" Id="Re522de98add743ab" /><Relationship Type="http://schemas.openxmlformats.org/officeDocument/2006/relationships/slideLayout" Target="/ppt/slideLayouts/slideLayout6.xml" Id="R03407b31fc8c4e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d07120a05b4870"/>
    <p:sldLayoutId xmlns:r="http://schemas.openxmlformats.org/officeDocument/2006/relationships" id="2147483650" r:id="R3e83084ac1354aca"/>
    <p:sldLayoutId xmlns:r="http://schemas.openxmlformats.org/officeDocument/2006/relationships" id="2147483651" r:id="R7ce184868baa42d3"/>
    <p:sldLayoutId xmlns:r="http://schemas.openxmlformats.org/officeDocument/2006/relationships" id="2147483652" r:id="R0ca473a6adb14d8b"/>
    <p:sldLayoutId xmlns:r="http://schemas.openxmlformats.org/officeDocument/2006/relationships" id="2147483653" r:id="Re522de98add743ab"/>
    <p:sldLayoutId xmlns:r="http://schemas.openxmlformats.org/officeDocument/2006/relationships" id="2147483654" r:id="R03407b31fc8c4e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ca507c05db4237" /><Relationship Type="http://schemas.openxmlformats.org/officeDocument/2006/relationships/notesSlide" Target="/ppt/notesSlides/notesSlide1.xml" Id="Re979a231336941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2dd6f54c14451d" /><Relationship Type="http://schemas.openxmlformats.org/officeDocument/2006/relationships/notesSlide" Target="/ppt/notesSlides/notesSlide2.xml" Id="R8bcd30ca95cb4a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f807bdc344e74" /><Relationship Type="http://schemas.openxmlformats.org/officeDocument/2006/relationships/notesSlide" Target="/ppt/notesSlides/notesSlide3.xml" Id="R43ef16a0631449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1db0b72b8499b" /><Relationship Type="http://schemas.openxmlformats.org/officeDocument/2006/relationships/notesSlide" Target="/ppt/notesSlides/notesSlide4.xml" Id="R23bd5ae8926c44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8f82eba1d5496b" /><Relationship Type="http://schemas.openxmlformats.org/officeDocument/2006/relationships/notesSlide" Target="/ppt/notesSlides/notesSlide5.xml" Id="R5ce159ff7dc74c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b20469ea9c49c4" /><Relationship Type="http://schemas.openxmlformats.org/officeDocument/2006/relationships/notesSlide" Target="/ppt/notesSlides/notesSlide6.xml" Id="Re05fe9a6a73045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22dcdeedff4f0e" /><Relationship Type="http://schemas.openxmlformats.org/officeDocument/2006/relationships/notesSlide" Target="/ppt/notesSlides/notesSlide7.xml" Id="R3f7b48f69ee34d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6cd7233b84521" /><Relationship Type="http://schemas.openxmlformats.org/officeDocument/2006/relationships/notesSlide" Target="/ppt/notesSlides/notesSlide8.xml" Id="R5f613f95190943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d1f64108ae4ec0" /><Relationship Type="http://schemas.openxmlformats.org/officeDocument/2006/relationships/notesSlide" Target="/ppt/notesSlides/notesSlide9.xml" Id="Rb5808500ca1643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d0074d596408d" /><Relationship Type="http://schemas.openxmlformats.org/officeDocument/2006/relationships/notesSlide" Target="/ppt/notesSlides/notesSlide10.xml" Id="R864ed1ec1fbf46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cd1dbfff754b02" /><Relationship Type="http://schemas.openxmlformats.org/officeDocument/2006/relationships/notesSlide" Target="/ppt/notesSlides/notesSlide11.xml" Id="R107fc541be3f4d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70d796aa24357" /><Relationship Type="http://schemas.openxmlformats.org/officeDocument/2006/relationships/notesSlide" Target="/ppt/notesSlides/notesSlide12.xml" Id="R1584f09a9e3848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750b39d3a42d0" /><Relationship Type="http://schemas.openxmlformats.org/officeDocument/2006/relationships/notesSlide" Target="/ppt/notesSlides/notesSlide13.xml" Id="R85714b73efda4a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ccd26a21c4240" /><Relationship Type="http://schemas.openxmlformats.org/officeDocument/2006/relationships/notesSlide" Target="/ppt/notesSlides/notesSlide14.xml" Id="Ref04286325a849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eb4fcb34d426c" /><Relationship Type="http://schemas.openxmlformats.org/officeDocument/2006/relationships/notesSlide" Target="/ppt/notesSlides/notesSlide15.xml" Id="Rccbdf17391154b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f2bc12b658475b" /><Relationship Type="http://schemas.openxmlformats.org/officeDocument/2006/relationships/notesSlide" Target="/ppt/notesSlides/notesSlide16.xml" Id="R60c60655280745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75F15D-AF02-406C-A4FE-378F1FFC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327アイドル駅伝 運営説明</a:t>
            </a:r>
          </a:p>
        </p:txBody>
      </p:sp>
      <p:sp>
        <p:nvSpPr>
          <p:cNvPr id="2" name="cover-lead">
            <a:extLst xmlns:a="http://schemas.openxmlformats.org/drawingml/2006/main">
              <a:ext uri="{FF2B5EF4-FFF2-40B4-BE49-F238E27FC236}">
                <a16:creationId xmlns:a16="http://schemas.microsoft.com/office/drawing/2014/main" id="{0FCEDF27-CD26-4F41-8E4E-8F2758DE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rPr>
              <a:t>出演を盛り上げ、同じ条件で記録する。</a:t>
            </a:r>
          </a:p>
        </p:txBody>
      </p:sp>
      <p:sp>
        <p:nvSpPr>
          <p:cNvPr id="3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F24AFA1A-9A1D-47D1-8772-2D117D03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運営事前打ち合わせ用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配置・15分枠・GBの金額は仮案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最新の共通ルールを開始前に全員で確認</a:t>
            </a:r>
          </a:p>
        </p:txBody>
      </p:sp>
    </p:spTree>
    <p:extLst>
      <p:ext uri="{BB962C8B-B14F-4D97-AF65-F5344CB8AC3E}">
        <p14:creationId xmlns:p14="http://schemas.microsoft.com/office/powerpoint/2010/main" val="281986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08662F-717E-4BB9-95EC-9A970D20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会場・仕事・本部・ライブの担当が連携して進行する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5E60B-4243-42C5-9031-26B1A1EE09D7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951220"/>
                <a:gridCol w="4869180"/>
              </a:tblGrid>
              <a:tr h="698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確認する範囲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詳しい説明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配置と時間割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P.3〜5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会場採点と仕事の受付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P.6〜9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清算・スキャンダル・合同ロケ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P.10〜12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ニュースと入力訂正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P.13〜14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武道館の進行と採点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P.15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40C127-3AF0-4908-8609-78FE3D15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16721152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13637E-E0EA-4519-AEA7-60974A12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本部2人・会場4人・巡回3人でツアーを支える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88F33-D9A3-4B07-B414-098D8B133252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219956"/>
                <a:gridCol w="4003548"/>
                <a:gridCol w="2596896"/>
              </a:tblGrid>
              <a:tr h="698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担当／仮案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メンバー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主な仕事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本部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森本／小峰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全体・質問対応／台帳・物販・本部イベント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ツアー会場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たけ／佐伯／ぷし／やり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A／B／C／Dを各1人で説明・採点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巡回・仕事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アレックス／侍／アツコン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撮影・営業・合同ロケ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開会司会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ボンボ／グッドマン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記者会見・司会芸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武道館司会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シャネル／スーダン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ライブ・司会芸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41C608-090B-4843-B45E-33535E50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818154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890A28-7C59-448B-9DB6-951453E9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ツアー終了後の30分で清算・演目申告・集合を済ませる</a:t>
            </a:r>
          </a:p>
        </p:txBody>
      </p:sp>
      <p:sp>
        <p:nvSpPr>
          <p:cNvPr id="2" name="time-0">
            <a:extLst xmlns:a="http://schemas.openxmlformats.org/drawingml/2006/main">
              <a:ext uri="{FF2B5EF4-FFF2-40B4-BE49-F238E27FC236}">
                <a16:creationId xmlns:a16="http://schemas.microsoft.com/office/drawing/2014/main" id="{3961D550-BA15-4ABC-AFBE-F24A0E4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14:30／仮</a:t>
            </a:r>
          </a:p>
        </p:txBody>
      </p:sp>
      <p:sp>
        <p:nvSpPr>
          <p:cNvPr id="3" name="event-0">
            <a:extLst xmlns:a="http://schemas.openxmlformats.org/drawingml/2006/main">
              <a:ext uri="{FF2B5EF4-FFF2-40B4-BE49-F238E27FC236}">
                <a16:creationId xmlns:a16="http://schemas.microsoft.com/office/drawing/2014/main" id="{03547F24-8FB3-4912-9A66-0FA5961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7526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機材・会場・入力の最終確認</a:t>
            </a:r>
          </a:p>
        </p:txBody>
      </p:sp>
      <p:sp>
        <p:nvSpPr>
          <p:cNvPr id="4" name="time-1">
            <a:extLst xmlns:a="http://schemas.openxmlformats.org/drawingml/2006/main">
              <a:ext uri="{FF2B5EF4-FFF2-40B4-BE49-F238E27FC236}">
                <a16:creationId xmlns:a16="http://schemas.microsoft.com/office/drawing/2014/main" id="{971D5178-69CD-4E1B-A610-8096F4A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11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15:00〜15:10／仮</a:t>
            </a:r>
          </a:p>
        </p:txBody>
      </p:sp>
      <p:sp>
        <p:nvSpPr>
          <p:cNvPr id="5" name="event-1">
            <a:extLst xmlns:a="http://schemas.openxmlformats.org/drawingml/2006/main">
              <a:ext uri="{FF2B5EF4-FFF2-40B4-BE49-F238E27FC236}">
                <a16:creationId xmlns:a16="http://schemas.microsoft.com/office/drawing/2014/main" id="{1A163704-A5E5-4EF5-ADD0-26A0F12A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511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記者会見・説明</a:t>
            </a:r>
          </a:p>
        </p:txBody>
      </p:sp>
      <p:sp>
        <p:nvSpPr>
          <p:cNvPr id="6" name="time-2">
            <a:extLst xmlns:a="http://schemas.openxmlformats.org/drawingml/2006/main">
              <a:ext uri="{FF2B5EF4-FFF2-40B4-BE49-F238E27FC236}">
                <a16:creationId xmlns:a16="http://schemas.microsoft.com/office/drawing/2014/main" id="{FDD8F619-EEDD-4102-9EF7-7CE72AF9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96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15:10〜15:30／仮</a:t>
            </a:r>
          </a:p>
        </p:txBody>
      </p:sp>
      <p:sp>
        <p:nvSpPr>
          <p:cNvPr id="7" name="event-2">
            <a:extLst xmlns:a="http://schemas.openxmlformats.org/drawingml/2006/main">
              <a:ext uri="{FF2B5EF4-FFF2-40B4-BE49-F238E27FC236}">
                <a16:creationId xmlns:a16="http://schemas.microsoft.com/office/drawing/2014/main" id="{B0E75A25-7259-4385-B962-459615F5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96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初回会場へ移動</a:t>
            </a:r>
          </a:p>
        </p:txBody>
      </p:sp>
      <p:sp>
        <p:nvSpPr>
          <p:cNvPr id="8" name="time-3">
            <a:extLst xmlns:a="http://schemas.openxmlformats.org/drawingml/2006/main">
              <a:ext uri="{FF2B5EF4-FFF2-40B4-BE49-F238E27FC236}">
                <a16:creationId xmlns:a16="http://schemas.microsoft.com/office/drawing/2014/main" id="{9D9667BB-AA9E-4FB3-A994-76BDD781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15:30〜17:00／仮</a:t>
            </a:r>
          </a:p>
        </p:txBody>
      </p:sp>
      <p:sp>
        <p:nvSpPr>
          <p:cNvPr id="9" name="event-3">
            <a:extLst xmlns:a="http://schemas.openxmlformats.org/drawingml/2006/main">
              <a:ext uri="{FF2B5EF4-FFF2-40B4-BE49-F238E27FC236}">
                <a16:creationId xmlns:a16="http://schemas.microsoft.com/office/drawing/2014/main" id="{248A5A45-F724-42FC-8BDE-0BC39A96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481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15分枠×6回でツアーを受け入れる</a:t>
            </a:r>
          </a:p>
        </p:txBody>
      </p:sp>
      <p:sp>
        <p:nvSpPr>
          <p:cNvPr id="10" name="time-4">
            <a:extLst xmlns:a="http://schemas.openxmlformats.org/drawingml/2006/main">
              <a:ext uri="{FF2B5EF4-FFF2-40B4-BE49-F238E27FC236}">
                <a16:creationId xmlns:a16="http://schemas.microsoft.com/office/drawing/2014/main" id="{ACE541A7-F126-4704-9BE7-A2B64D3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66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17:00／17:10／17:20</a:t>
            </a:r>
          </a:p>
        </p:txBody>
      </p:sp>
      <p:sp>
        <p:nvSpPr>
          <p:cNvPr id="11" name="event-4">
            <a:extLst xmlns:a="http://schemas.openxmlformats.org/drawingml/2006/main">
              <a:ext uri="{FF2B5EF4-FFF2-40B4-BE49-F238E27FC236}">
                <a16:creationId xmlns:a16="http://schemas.microsoft.com/office/drawing/2014/main" id="{02BAF2D0-42C9-4E22-8F0A-47529053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466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清算／演目締切／全員集合・取引締切</a:t>
            </a:r>
          </a:p>
        </p:txBody>
      </p:sp>
      <p:sp>
        <p:nvSpPr>
          <p:cNvPr id="12" name="time-5">
            <a:extLst xmlns:a="http://schemas.openxmlformats.org/drawingml/2006/main">
              <a:ext uri="{FF2B5EF4-FFF2-40B4-BE49-F238E27FC236}">
                <a16:creationId xmlns:a16="http://schemas.microsoft.com/office/drawing/2014/main" id="{D70EB4CD-5F49-4F71-ACC8-56807D6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5100"/>
            <a:ext cx="310515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17:30〜18:00／仮</a:t>
            </a:r>
          </a:p>
        </p:txBody>
      </p:sp>
      <p:sp>
        <p:nvSpPr>
          <p:cNvPr id="13" name="event-5">
            <a:extLst xmlns:a="http://schemas.openxmlformats.org/drawingml/2006/main">
              <a:ext uri="{FF2B5EF4-FFF2-40B4-BE49-F238E27FC236}">
                <a16:creationId xmlns:a16="http://schemas.microsoft.com/office/drawing/2014/main" id="{399116BC-A7AF-46F1-AEA9-A64884E8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245100"/>
            <a:ext cx="73533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ライブ・集計・受賞</a:t>
            </a:r>
          </a:p>
        </p:txBody>
      </p:sp>
      <p:sp>
        <p:nvSpPr>
          <p:cNvPr id="1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737968-E44A-4BFC-989A-0B2D0CE2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1042157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8BAF72-3B03-4D26-B04D-D7EC1DB2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6枠で各チームが全会場を1回ずつ回る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48A6A-5C63-44FA-A6C7-1F679FA54BC2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190244"/>
                <a:gridCol w="1604665"/>
                <a:gridCol w="1604665"/>
                <a:gridCol w="1604665"/>
                <a:gridCol w="1604665"/>
                <a:gridCol w="1604665"/>
                <a:gridCol w="1604665"/>
              </a:tblGrid>
              <a:tr h="5987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組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15:30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15:45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16:00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16:15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16:30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16:45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G1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G2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G3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G4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G5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G6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自由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43EBED-34ED-42E4-BEF6-D8BF8F77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1233955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FE1379-8B2C-49AE-BF16-C3D3C06E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会場担当は5分で説明・実施・採点・報告まで進める</a:t>
            </a:r>
          </a:p>
        </p:txBody>
      </p:sp>
      <p:sp>
        <p:nvSpPr>
          <p:cNvPr id="2" name="time-0">
            <a:extLst xmlns:a="http://schemas.openxmlformats.org/drawingml/2006/main">
              <a:ext uri="{FF2B5EF4-FFF2-40B4-BE49-F238E27FC236}">
                <a16:creationId xmlns:a16="http://schemas.microsoft.com/office/drawing/2014/main" id="{11F09637-4A33-4CB9-92D5-3AB5037B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05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0:00〜0:30</a:t>
            </a:r>
          </a:p>
        </p:txBody>
      </p:sp>
      <p:sp>
        <p:nvSpPr>
          <p:cNvPr id="3" name="event-0">
            <a:extLst xmlns:a="http://schemas.openxmlformats.org/drawingml/2006/main">
              <a:ext uri="{FF2B5EF4-FFF2-40B4-BE49-F238E27FC236}">
                <a16:creationId xmlns:a16="http://schemas.microsoft.com/office/drawing/2014/main" id="{1C91BD2C-BA1E-4F6A-B125-109AD34F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752600"/>
            <a:ext cx="7353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チーム名を確認し、お題と評価項目を説明する</a:t>
            </a:r>
          </a:p>
        </p:txBody>
      </p:sp>
      <p:sp>
        <p:nvSpPr>
          <p:cNvPr id="4" name="time-1">
            <a:extLst xmlns:a="http://schemas.openxmlformats.org/drawingml/2006/main">
              <a:ext uri="{FF2B5EF4-FFF2-40B4-BE49-F238E27FC236}">
                <a16:creationId xmlns:a16="http://schemas.microsoft.com/office/drawing/2014/main" id="{2AB7BFCE-0DF1-433C-8073-2C220CD7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3105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0:30〜3:30</a:t>
            </a:r>
          </a:p>
        </p:txBody>
      </p:sp>
      <p:sp>
        <p:nvSpPr>
          <p:cNvPr id="5" name="event-1">
            <a:extLst xmlns:a="http://schemas.openxmlformats.org/drawingml/2006/main">
              <a:ext uri="{FF2B5EF4-FFF2-40B4-BE49-F238E27FC236}">
                <a16:creationId xmlns:a16="http://schemas.microsoft.com/office/drawing/2014/main" id="{93582CF6-7743-44E3-A12C-B7C283F2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00350"/>
            <a:ext cx="7353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アイドルの実演と古参ファンの応援を進める</a:t>
            </a:r>
          </a:p>
        </p:txBody>
      </p:sp>
      <p:sp>
        <p:nvSpPr>
          <p:cNvPr id="6" name="time-2">
            <a:extLst xmlns:a="http://schemas.openxmlformats.org/drawingml/2006/main">
              <a:ext uri="{FF2B5EF4-FFF2-40B4-BE49-F238E27FC236}">
                <a16:creationId xmlns:a16="http://schemas.microsoft.com/office/drawing/2014/main" id="{0F5E49A4-0DCB-4E4C-9A22-6103431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105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3:30〜4:30</a:t>
            </a:r>
          </a:p>
        </p:txBody>
      </p:sp>
      <p:sp>
        <p:nvSpPr>
          <p:cNvPr id="7" name="event-2">
            <a:extLst xmlns:a="http://schemas.openxmlformats.org/drawingml/2006/main">
              <a:ext uri="{FF2B5EF4-FFF2-40B4-BE49-F238E27FC236}">
                <a16:creationId xmlns:a16="http://schemas.microsoft.com/office/drawing/2014/main" id="{FF6D1184-2EB6-4AB2-8AED-7B61BE4B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48100"/>
            <a:ext cx="7353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4項目を採点し、合計を読み上げる</a:t>
            </a:r>
          </a:p>
        </p:txBody>
      </p:sp>
      <p:sp>
        <p:nvSpPr>
          <p:cNvPr id="8" name="time-3">
            <a:extLst xmlns:a="http://schemas.openxmlformats.org/drawingml/2006/main">
              <a:ext uri="{FF2B5EF4-FFF2-40B4-BE49-F238E27FC236}">
                <a16:creationId xmlns:a16="http://schemas.microsoft.com/office/drawing/2014/main" id="{0C27EE02-C936-4EA1-A82A-6ED1E3C2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31051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CF275D"/>
                </a:solidFill>
                <a:latin typeface="Noto Sans JP"/>
                <a:ea typeface="Noto Sans JP"/>
                <a:cs typeface="Noto Sans JP"/>
              </a:rPr>
              <a:t>4:30〜5:00</a:t>
            </a:r>
          </a:p>
        </p:txBody>
      </p:sp>
      <p:sp>
        <p:nvSpPr>
          <p:cNvPr id="9" name="event-3">
            <a:extLst xmlns:a="http://schemas.openxmlformats.org/drawingml/2006/main">
              <a:ext uri="{FF2B5EF4-FFF2-40B4-BE49-F238E27FC236}">
                <a16:creationId xmlns:a16="http://schemas.microsoft.com/office/drawing/2014/main" id="{70C68B3E-ED18-4923-A4BD-0403209C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895850"/>
            <a:ext cx="7353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チーム・会場・各点数を本部へ報告する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9A9470-71B2-4416-AE8B-112EA11F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1579358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E2198F-AA1E-4534-B9EE-C60A0399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ツアー採点は各25点で、4項目を別々に記録する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CF352-4960-4B3B-A58D-958469A0A9C3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219956"/>
                <a:gridCol w="4003548"/>
                <a:gridCol w="2596896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会場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5点ずつの項目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10点の項目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 お笑い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おもしろさ／瞬発力／古参ファンの盛り上げ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ビジュアル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 クイズ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かしこさ／面白回答／古参ファン能力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ビジュアル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 スポーツ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8の字跳び／握力チャレンジ／番組中の面白さ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ビジュアル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 ダンス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リズム感／ファンの熱量／やりきり具合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ビジュアル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9709CC-C859-40CF-AC42-51AB1016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2064591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277DFB-1CAB-44A7-BED1-9DFB73EC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物販は残高と購入回数を確認してから渡す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DE883-E122-426F-880F-DEF4BEBB6228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219956"/>
                <a:gridCol w="4003548"/>
                <a:gridCol w="2596896"/>
              </a:tblGrid>
              <a:tr h="59871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商品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価格／仮案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チーム上限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架空の宣伝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スペシャル宣伝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衣装素材セット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武道館レッスン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推し活グッズ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ステージ装飾セット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0D702D-FBCB-4FF4-B1D9-B802C37A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1845447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0A9028-683E-43DB-AE0D-7DCC65FE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仕事は成立条件を先に示し、重複報酬を防ぐ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6F649-4785-4B37-90BA-06AC7B1EB28A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4219956"/>
                <a:gridCol w="4003548"/>
                <a:gridCol w="2596896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仕事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報酬／仮案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記録するもの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営業①〜③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各200 GB／各1回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お題番号と成立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スポンサーCM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 GB＋2万人／1回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動画と指定語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ファンクラブ開設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GB／1回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登録の受付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合同ロケ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 GB＋3万人／各組1回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相手組と動画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2478DA-CD9F-4EE3-8C15-1D0CEDAC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465744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5AB840-2753-4458-A914-598331FA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継続収入は17時に1回まとめて清算する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FA6E1-F2C4-457F-8471-60EA6B5A7330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711768"/>
                <a:gridCol w="2572703"/>
                <a:gridCol w="166878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収入／仮案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対象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追加GB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スポンサー継続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スポンサーCMを成立済み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ファンクラブ継続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ファンクラブを開設済み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ファン10万人ごと50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ファンクラブの上限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開設済みの各チーム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最大300 GB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56C7C278-E0E4-4A7D-8BDD-3432799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清算の手順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671DCE23-BC41-4761-A091-B4C28DC9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17:00時点のファン数を固定する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5948F36A-CA53-49D2-A2DF-74AB1BEB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未反映の成立申請を確認する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53203188-9FFC-4D3B-AFC6-DE9EA823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各チームへ清算額を伝える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01541F77-5007-4C0F-9732-5C726B87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同じチームへの清算は1回だけ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6C41EC-C1F7-4C7E-9371-3D2E89C2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2236999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4DBB76-B34D-49E3-9347-C94C84C7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スキャンダルの条件をそろえ、各組1件だけ処理する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7A9BE-475B-47A1-8EE5-22069140D100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946910"/>
                <a:gridCol w="2711768"/>
                <a:gridCol w="2294573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対応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成立条件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結果／仮案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もみ消し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残高200 GB以上で支払い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200 GB減／ファン増減なし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釈明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指定語入り30秒会見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成立2万人増／失敗3万人減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話題化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疑惑を題材に15秒CM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成立3万人増／失敗3万人減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未対応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16:45までに申告なし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3万人減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6BA1DAB6-7F6D-4463-8D36-E8AE3D1F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16:00に予告する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D51FBFF3-FA88-4580-A345-EDF050D6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16:45に対応を締める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ABB42C97-9057-4F17-BB3C-F0F2DE86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16:50に結果を公開する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85794138-B89B-46C1-9F45-C62972A3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架空の疑惑を各組1件配る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822D666D-BFDA-404A-AAC1-E409D4C2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追加の口止め料は請求しない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184A4D-AD97-47B9-B641-CD948C01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3425719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7D5D23-0F2B-4732-8C7E-01978F65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合同ロケで会えない組は動画リレーにする</a:t>
            </a:r>
          </a:p>
        </p:txBody>
      </p:sp>
      <p:sp>
        <p:nvSpPr>
          <p:cNvPr id="2" name="column-0">
            <a:extLst xmlns:a="http://schemas.openxmlformats.org/drawingml/2006/main">
              <a:ext uri="{FF2B5EF4-FFF2-40B4-BE49-F238E27FC236}">
                <a16:creationId xmlns:a16="http://schemas.microsoft.com/office/drawing/2014/main" id="{AD6E4425-54A0-474D-8C5A-8AFE7732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巡回担当が調整する</a:t>
            </a:r>
          </a:p>
        </p:txBody>
      </p:sp>
      <p:sp>
        <p:nvSpPr>
          <p:cNvPr id="3" name="column-0-row-0">
            <a:extLst xmlns:a="http://schemas.openxmlformats.org/drawingml/2006/main">
              <a:ext uri="{FF2B5EF4-FFF2-40B4-BE49-F238E27FC236}">
                <a16:creationId xmlns:a16="http://schemas.microsoft.com/office/drawing/2014/main" id="{23CC6C11-CE94-4692-B011-8FC1FE1A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同じ自由時間と近い場所の組を組み合わせる</a:t>
            </a:r>
          </a:p>
        </p:txBody>
      </p:sp>
      <p:sp>
        <p:nvSpPr>
          <p:cNvPr id="4" name="column-0-row-1">
            <a:extLst xmlns:a="http://schemas.openxmlformats.org/drawingml/2006/main">
              <a:ext uri="{FF2B5EF4-FFF2-40B4-BE49-F238E27FC236}">
                <a16:creationId xmlns:a16="http://schemas.microsoft.com/office/drawing/2014/main" id="{01FFF098-9749-4B50-AF55-4E8E20F4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各組が自己紹介と相手紹介を撮る</a:t>
            </a:r>
          </a:p>
        </p:txBody>
      </p:sp>
      <p:sp>
        <p:nvSpPr>
          <p:cNvPr id="5" name="column-0-row-2">
            <a:extLst xmlns:a="http://schemas.openxmlformats.org/drawingml/2006/main">
              <a:ext uri="{FF2B5EF4-FFF2-40B4-BE49-F238E27FC236}">
                <a16:creationId xmlns:a16="http://schemas.microsoft.com/office/drawing/2014/main" id="{DD09477A-A3BA-43FE-9ED0-4A73245F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終了後は次の予約会場へ案内する</a:t>
            </a:r>
          </a:p>
        </p:txBody>
      </p:sp>
      <p:sp>
        <p:nvSpPr>
          <p:cNvPr id="6" name="column-1">
            <a:extLst xmlns:a="http://schemas.openxmlformats.org/drawingml/2006/main">
              <a:ext uri="{FF2B5EF4-FFF2-40B4-BE49-F238E27FC236}">
                <a16:creationId xmlns:a16="http://schemas.microsoft.com/office/drawing/2014/main" id="{A37B8335-E44B-4C3E-A42A-87D3CE92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本部が両組を確認する</a:t>
            </a:r>
          </a:p>
        </p:txBody>
      </p:sp>
      <p:sp>
        <p:nvSpPr>
          <p:cNvPr id="7" name="column-1-row-0">
            <a:extLst xmlns:a="http://schemas.openxmlformats.org/drawingml/2006/main">
              <a:ext uri="{FF2B5EF4-FFF2-40B4-BE49-F238E27FC236}">
                <a16:creationId xmlns:a16="http://schemas.microsoft.com/office/drawing/2014/main" id="{D2762F49-0D03-4E14-AA22-B3B03CBE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難しい組には15秒ずつの動画リレーを案内する</a:t>
            </a:r>
          </a:p>
        </p:txBody>
      </p:sp>
      <p:sp>
        <p:nvSpPr>
          <p:cNvPr id="8" name="column-1-row-1">
            <a:extLst xmlns:a="http://schemas.openxmlformats.org/drawingml/2006/main">
              <a:ext uri="{FF2B5EF4-FFF2-40B4-BE49-F238E27FC236}">
                <a16:creationId xmlns:a16="http://schemas.microsoft.com/office/drawing/2014/main" id="{295907AA-ECF7-44F9-95FE-5763DDAE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両組の提出を確認し、各組1回で登録する</a:t>
            </a:r>
          </a:p>
        </p:txBody>
      </p:sp>
      <p:sp>
        <p:nvSpPr>
          <p:cNvPr id="9" name="column-1-row-2">
            <a:extLst xmlns:a="http://schemas.openxmlformats.org/drawingml/2006/main">
              <a:ext uri="{FF2B5EF4-FFF2-40B4-BE49-F238E27FC236}">
                <a16:creationId xmlns:a16="http://schemas.microsoft.com/office/drawing/2014/main" id="{619BB295-438D-4830-8C65-B2A55338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余裕がない組への参加は強制しない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3AF8C6D-FFAD-4E44-8FB7-DE7952A8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740243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6A330-9332-4AE8-AADB-00E5AE5B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確定した結果から記事を作り、運営が確認して掲載する</a:t>
            </a:r>
          </a:p>
        </p:txBody>
      </p:sp>
      <p:sp>
        <p:nvSpPr>
          <p:cNvPr id="2" name="column-0">
            <a:extLst xmlns:a="http://schemas.openxmlformats.org/drawingml/2006/main">
              <a:ext uri="{FF2B5EF4-FFF2-40B4-BE49-F238E27FC236}">
                <a16:creationId xmlns:a16="http://schemas.microsoft.com/office/drawing/2014/main" id="{91305F5F-36F5-4A61-A8D6-AAB54B64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記事を準備する</a:t>
            </a:r>
          </a:p>
        </p:txBody>
      </p:sp>
      <p:sp>
        <p:nvSpPr>
          <p:cNvPr id="3" name="column-0-row-0">
            <a:extLst xmlns:a="http://schemas.openxmlformats.org/drawingml/2006/main">
              <a:ext uri="{FF2B5EF4-FFF2-40B4-BE49-F238E27FC236}">
                <a16:creationId xmlns:a16="http://schemas.microsoft.com/office/drawing/2014/main" id="{ACCF07F9-22DA-4AE0-9060-4DB60F7A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テンプレートに組名・出来事・結果を入れる</a:t>
            </a:r>
          </a:p>
        </p:txBody>
      </p:sp>
      <p:sp>
        <p:nvSpPr>
          <p:cNvPr id="4" name="column-0-row-1">
            <a:extLst xmlns:a="http://schemas.openxmlformats.org/drawingml/2006/main">
              <a:ext uri="{FF2B5EF4-FFF2-40B4-BE49-F238E27FC236}">
                <a16:creationId xmlns:a16="http://schemas.microsoft.com/office/drawing/2014/main" id="{BB68699C-A80B-4704-8EB1-5A8F59D3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写真と動画は本人の掲載範囲を確認する</a:t>
            </a:r>
          </a:p>
        </p:txBody>
      </p:sp>
      <p:sp>
        <p:nvSpPr>
          <p:cNvPr id="5" name="column-0-row-2">
            <a:extLst xmlns:a="http://schemas.openxmlformats.org/drawingml/2006/main">
              <a:ext uri="{FF2B5EF4-FFF2-40B4-BE49-F238E27FC236}">
                <a16:creationId xmlns:a16="http://schemas.microsoft.com/office/drawing/2014/main" id="{D48E9920-FFC1-4988-A649-D44BD3F6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ゲーム内の架空ニュースだと分かる表現にする</a:t>
            </a:r>
          </a:p>
        </p:txBody>
      </p:sp>
      <p:sp>
        <p:nvSpPr>
          <p:cNvPr id="6" name="column-1">
            <a:extLst xmlns:a="http://schemas.openxmlformats.org/drawingml/2006/main">
              <a:ext uri="{FF2B5EF4-FFF2-40B4-BE49-F238E27FC236}">
                <a16:creationId xmlns:a16="http://schemas.microsoft.com/office/drawing/2014/main" id="{A5800BC5-F5A0-4606-8774-B5708096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本部が公開する</a:t>
            </a:r>
          </a:p>
        </p:txBody>
      </p:sp>
      <p:sp>
        <p:nvSpPr>
          <p:cNvPr id="7" name="column-1-row-0">
            <a:extLst xmlns:a="http://schemas.openxmlformats.org/drawingml/2006/main">
              <a:ext uri="{FF2B5EF4-FFF2-40B4-BE49-F238E27FC236}">
                <a16:creationId xmlns:a16="http://schemas.microsoft.com/office/drawing/2014/main" id="{C1EBFAFF-42DA-4A19-8961-1FC6F772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数値を記録済みの結果と照合する</a:t>
            </a:r>
          </a:p>
        </p:txBody>
      </p:sp>
      <p:sp>
        <p:nvSpPr>
          <p:cNvPr id="8" name="column-1-row-1">
            <a:extLst xmlns:a="http://schemas.openxmlformats.org/drawingml/2006/main">
              <a:ext uri="{FF2B5EF4-FFF2-40B4-BE49-F238E27FC236}">
                <a16:creationId xmlns:a16="http://schemas.microsoft.com/office/drawing/2014/main" id="{6CF5D766-0D19-43F6-B32B-7696A636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運営が承認後、ダッシュボードへ掲載する</a:t>
            </a:r>
          </a:p>
        </p:txBody>
      </p:sp>
      <p:sp>
        <p:nvSpPr>
          <p:cNvPr id="9" name="column-1-row-2">
            <a:extLst xmlns:a="http://schemas.openxmlformats.org/drawingml/2006/main">
              <a:ext uri="{FF2B5EF4-FFF2-40B4-BE49-F238E27FC236}">
                <a16:creationId xmlns:a16="http://schemas.microsoft.com/office/drawing/2014/main" id="{50EA2090-3255-4835-A53B-4CB85180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同じ本文を全体LINEへ手動投稿する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8DAF24-D9FC-488B-B8AA-659C1B66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9381439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DA9EAC-1D80-431B-B6A3-1B180A3B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誤入力は履歴を残して取り消し、正しい値を登録する</a:t>
            </a:r>
          </a:p>
        </p:txBody>
      </p:sp>
      <p:sp>
        <p:nvSpPr>
          <p:cNvPr id="2" name="column-0">
            <a:extLst xmlns:a="http://schemas.openxmlformats.org/drawingml/2006/main">
              <a:ext uri="{FF2B5EF4-FFF2-40B4-BE49-F238E27FC236}">
                <a16:creationId xmlns:a16="http://schemas.microsoft.com/office/drawing/2014/main" id="{E7CFE194-EE7E-4EB2-8C39-D838828C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登録する前に確認する</a:t>
            </a:r>
          </a:p>
        </p:txBody>
      </p:sp>
      <p:sp>
        <p:nvSpPr>
          <p:cNvPr id="3" name="column-0-row-0">
            <a:extLst xmlns:a="http://schemas.openxmlformats.org/drawingml/2006/main">
              <a:ext uri="{FF2B5EF4-FFF2-40B4-BE49-F238E27FC236}">
                <a16:creationId xmlns:a16="http://schemas.microsoft.com/office/drawing/2014/main" id="{88A04957-F9AC-4608-ACAF-B0D5C88A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チームと出来事の種類を確認する</a:t>
            </a:r>
          </a:p>
        </p:txBody>
      </p:sp>
      <p:sp>
        <p:nvSpPr>
          <p:cNvPr id="4" name="column-0-row-1">
            <a:extLst xmlns:a="http://schemas.openxmlformats.org/drawingml/2006/main">
              <a:ext uri="{FF2B5EF4-FFF2-40B4-BE49-F238E27FC236}">
                <a16:creationId xmlns:a16="http://schemas.microsoft.com/office/drawing/2014/main" id="{158AD569-0DEE-4CFF-A44A-679573AB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会場・購入回数・締切を確認する</a:t>
            </a:r>
          </a:p>
        </p:txBody>
      </p:sp>
      <p:sp>
        <p:nvSpPr>
          <p:cNvPr id="5" name="column-0-row-2">
            <a:extLst xmlns:a="http://schemas.openxmlformats.org/drawingml/2006/main">
              <a:ext uri="{FF2B5EF4-FFF2-40B4-BE49-F238E27FC236}">
                <a16:creationId xmlns:a16="http://schemas.microsoft.com/office/drawing/2014/main" id="{63DF5F0A-BF48-45EB-8C67-EDABD87A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採点は項目別の原票と照合する</a:t>
            </a:r>
          </a:p>
        </p:txBody>
      </p:sp>
      <p:sp>
        <p:nvSpPr>
          <p:cNvPr id="6" name="column-1">
            <a:extLst xmlns:a="http://schemas.openxmlformats.org/drawingml/2006/main">
              <a:ext uri="{FF2B5EF4-FFF2-40B4-BE49-F238E27FC236}">
                <a16:creationId xmlns:a16="http://schemas.microsoft.com/office/drawing/2014/main" id="{623B6749-1F1B-4099-996A-E987CEDD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通信や入力が止まったら切り替える</a:t>
            </a:r>
          </a:p>
        </p:txBody>
      </p:sp>
      <p:sp>
        <p:nvSpPr>
          <p:cNvPr id="7" name="column-1-row-0">
            <a:extLst xmlns:a="http://schemas.openxmlformats.org/drawingml/2006/main">
              <a:ext uri="{FF2B5EF4-FFF2-40B4-BE49-F238E27FC236}">
                <a16:creationId xmlns:a16="http://schemas.microsoft.com/office/drawing/2014/main" id="{7FF5FF27-8598-4697-8D75-3CD38F8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337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紙にチーム・時刻・点数・GBを記録する</a:t>
            </a:r>
          </a:p>
        </p:txBody>
      </p:sp>
      <p:sp>
        <p:nvSpPr>
          <p:cNvPr id="8" name="column-1-row-1">
            <a:extLst xmlns:a="http://schemas.openxmlformats.org/drawingml/2006/main">
              <a:ext uri="{FF2B5EF4-FFF2-40B4-BE49-F238E27FC236}">
                <a16:creationId xmlns:a16="http://schemas.microsoft.com/office/drawing/2014/main" id="{8B5FFFCE-2F20-4A7E-843E-C16025F8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671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同時更新は再確認し、控えと照合する</a:t>
            </a:r>
          </a:p>
        </p:txBody>
      </p:sp>
      <p:sp>
        <p:nvSpPr>
          <p:cNvPr id="9" name="column-1-row-2">
            <a:extLst xmlns:a="http://schemas.openxmlformats.org/drawingml/2006/main">
              <a:ext uri="{FF2B5EF4-FFF2-40B4-BE49-F238E27FC236}">
                <a16:creationId xmlns:a16="http://schemas.microsoft.com/office/drawing/2014/main" id="{99C7D147-127D-4C11-AE9C-9A2E8788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訂正は理由と担当を残し、旧記録を黙って消さない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1F5956-ABE6-4ECC-BBED-09F1E5C7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9804361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AB4067-8AE8-488C-B266-D09340F8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武道館は演目3分と転換1分で進める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6A934-1498-4FCB-8DC7-996082023D05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695325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824288"/>
                <a:gridCol w="3128963"/>
              </a:tblGrid>
              <a:tr h="6985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評価項目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満点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17145">
                      <a:solidFill>
                        <a:srgbClr val="14243F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ファンの盛り上がり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ビジュアル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面白さ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アイドル全員が輝いているか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グループカラーの装飾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43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15点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comment-heading">
            <a:extLst xmlns:a="http://schemas.openxmlformats.org/drawingml/2006/main">
              <a:ext uri="{FF2B5EF4-FFF2-40B4-BE49-F238E27FC236}">
                <a16:creationId xmlns:a16="http://schemas.microsoft.com/office/drawing/2014/main" id="{EEE81EFE-308C-4AA8-B7F0-0B83FA94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開演までの準備</a:t>
            </a:r>
          </a:p>
        </p:txBody>
      </p:sp>
      <p:sp>
        <p:nvSpPr>
          <p:cNvPr id="4" name="comment-0">
            <a:extLst xmlns:a="http://schemas.openxmlformats.org/drawingml/2006/main">
              <a:ext uri="{FF2B5EF4-FFF2-40B4-BE49-F238E27FC236}">
                <a16:creationId xmlns:a16="http://schemas.microsoft.com/office/drawing/2014/main" id="{8AE563CB-82B3-4FCC-8798-2930EFFE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43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17:10までに演目を集める</a:t>
            </a:r>
          </a:p>
        </p:txBody>
      </p:sp>
      <p:sp>
        <p:nvSpPr>
          <p:cNvPr id="5" name="comment-1">
            <a:extLst xmlns:a="http://schemas.openxmlformats.org/drawingml/2006/main">
              <a:ext uri="{FF2B5EF4-FFF2-40B4-BE49-F238E27FC236}">
                <a16:creationId xmlns:a16="http://schemas.microsoft.com/office/drawing/2014/main" id="{A3C7C43D-4321-4384-9CB0-942CF495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17:20に出演順と音源を確認する</a:t>
            </a:r>
          </a:p>
        </p:txBody>
      </p:sp>
      <p:sp>
        <p:nvSpPr>
          <p:cNvPr id="6" name="comment-2">
            <a:extLst xmlns:a="http://schemas.openxmlformats.org/drawingml/2006/main">
              <a:ext uri="{FF2B5EF4-FFF2-40B4-BE49-F238E27FC236}">
                <a16:creationId xmlns:a16="http://schemas.microsoft.com/office/drawing/2014/main" id="{9CFE0DC1-4466-4261-914B-39882C94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766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17:30から6組が出演する</a:t>
            </a:r>
          </a:p>
        </p:txBody>
      </p:sp>
      <p:sp>
        <p:nvSpPr>
          <p:cNvPr id="7" name="comment-3">
            <a:extLst xmlns:a="http://schemas.openxmlformats.org/drawingml/2006/main">
              <a:ext uri="{FF2B5EF4-FFF2-40B4-BE49-F238E27FC236}">
                <a16:creationId xmlns:a16="http://schemas.microsoft.com/office/drawing/2014/main" id="{C78FF876-2902-40C5-8448-0C613AA0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434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審査員3人の平均／仮案</a:t>
            </a:r>
          </a:p>
        </p:txBody>
      </p:sp>
      <p:sp>
        <p:nvSpPr>
          <p:cNvPr id="8" name="comment-4">
            <a:extLst xmlns:a="http://schemas.openxmlformats.org/drawingml/2006/main">
              <a:ext uri="{FF2B5EF4-FFF2-40B4-BE49-F238E27FC236}">
                <a16:creationId xmlns:a16="http://schemas.microsoft.com/office/drawing/2014/main" id="{15F190A9-40AB-4E23-976B-CF0B65F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01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14243F"/>
                </a:solidFill>
                <a:latin typeface="Noto Sans JP"/>
                <a:ea typeface="Noto Sans JP"/>
                <a:cs typeface="Noto Sans JP"/>
              </a:rPr>
              <a:t>最後に結果確認と受賞を行う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F400F9-462F-4FA2-81B2-D8AC63B5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23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526078"/>
                </a:solidFill>
                <a:latin typeface="Noto Sans JP"/>
                <a:ea typeface="Noto Sans JP"/>
                <a:cs typeface="Noto Sans JP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6623026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24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C7CF50-D625-4FDE-B725-19D4F8FC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4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327アイドル駅伝 運営本部</a:t>
            </a:r>
          </a:p>
        </p:txBody>
      </p:sp>
      <p:sp>
        <p:nvSpPr>
          <p:cNvPr id="2" name="cover-lead">
            <a:extLst xmlns:a="http://schemas.openxmlformats.org/drawingml/2006/main">
              <a:ext uri="{FF2B5EF4-FFF2-40B4-BE49-F238E27FC236}">
                <a16:creationId xmlns:a16="http://schemas.microsoft.com/office/drawing/2014/main" id="{E886F8AF-E670-4995-AFDD-5A3F5A10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0">
                <a:solidFill>
                  <a:srgbClr val="F6A4BF"/>
                </a:solidFill>
                <a:latin typeface="Noto Sans JP"/>
                <a:ea typeface="Noto Sans JP"/>
                <a:cs typeface="Noto Sans JP"/>
              </a:rPr>
              <a:t>全体の判断・チーム質問対応：森本</a:t>
            </a:r>
          </a:p>
        </p:txBody>
      </p:sp>
      <p:sp>
        <p:nvSpPr>
          <p:cNvPr id="3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8CB7BA38-8D64-4BB6-95C2-5DC7F124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運営連絡は担当用LINEへ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参加者連絡はチームLINEへ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開演 17:30　共用棟「武道館」</a:t>
            </a:r>
          </a:p>
        </p:txBody>
      </p:sp>
    </p:spTree>
    <p:extLst>
      <p:ext uri="{BB962C8B-B14F-4D97-AF65-F5344CB8AC3E}">
        <p14:creationId xmlns:p14="http://schemas.microsoft.com/office/powerpoint/2010/main" val="714840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2026-10-10T20:13:11.9690000Z</dcterms:created>
  <dcterms:modified xsi:type="dcterms:W3CDTF">2026-10-10T20:13:11.9690000Z</dcterms:modified>
</coreProperties>
</file>